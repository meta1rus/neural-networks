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4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Описание проекта" id="{c5184c46-fb33-dc10-4f33-fcbed0af3771}">
          <p14:sldIdLst>
            <p14:sldId id="256"/>
            <p14:sldId id="257"/>
            <p14:sldId id="258"/>
          </p14:sldIdLst>
        </p14:section>
        <p14:section name="2. Структура и архитектура" id="{32bac186-e15e-aa20-2dde-bf9a60cc6b09}">
          <p14:sldIdLst>
            <p14:sldId id="259"/>
            <p14:sldId id="260"/>
          </p14:sldIdLst>
        </p14:section>
        <p14:section name="3. Инструментарий" id="{c60f915f-eee1-5877-d4d3-a7aed6766638}">
          <p14:sldIdLst>
            <p14:sldId id="261"/>
          </p14:sldIdLst>
        </p14:section>
        <p14:section name="4. Обучение, данные, гиперпараметры" id="{96dfbc28-49c0-a21b-29eb-e3dbd38fdffe}">
          <p14:sldIdLst>
            <p14:sldId id="262"/>
            <p14:sldId id="263"/>
            <p14:sldId id="264"/>
            <p14:sldId id="265"/>
            <p14:sldId id="266"/>
          </p14:sldIdLst>
        </p14:section>
        <p14:section name="5. Тестирование" id="{043887fe-2ea3-262e-1eb7-e684f711414e}">
          <p14:sldIdLst>
            <p14:sldId id="267"/>
            <p14:sldId id="268"/>
            <p14:sldId id="269"/>
            <p14:sldId id="270"/>
            <p14:sldId id="271"/>
          </p14:sldIdLst>
        </p14:section>
        <p14:section name="6. Заключение" id="{a044afcc-5a02-a6f4-fc3f-d6c1a352553c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7324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7324D"/>
                </a:solidFill>
                <a:latin typeface="+mn-lt"/>
              </a:rPr>
              <a:t>val macro-F1 (один запуск на конфигурацию)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RNN</c:v>
                  </c:pt>
                  <c:pt idx="1">
                    <c:v>LSTM</c:v>
                  </c:pt>
                  <c:pt idx="2">
                    <c:v>BiLSTM (база)</c:v>
                  </c:pt>
                  <c:pt idx="3">
                    <c:v>BiLSTM, обрезка 50</c:v>
                  </c:pt>
                  <c:pt idx="4">
                    <c:v>2 слоя (B)</c:v>
                  </c:pt>
                  <c:pt idx="5">
                    <c:v>Adam lr 3e-3 (C)</c:v>
                  </c:pt>
                  <c:pt idx="6">
                    <c:v>SGD lr 0,5 (C)</c:v>
                  </c:pt>
                  <c:pt idx="7">
                    <c:v>без dropout (D)</c:v>
                  </c:pt>
                  <c:pt idx="8">
                    <c:v>dropout 0,5 (D)</c:v>
                  </c:pt>
                  <c:pt idx="9">
                    <c:v>объединение (G)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0.6515</c:v>
                </c:pt>
                <c:pt idx="1">
                  <c:v>0.73</c:v>
                </c:pt>
                <c:pt idx="2">
                  <c:v>0.7303</c:v>
                </c:pt>
                <c:pt idx="3">
                  <c:v>0.6932</c:v>
                </c:pt>
                <c:pt idx="4">
                  <c:v>0.7364</c:v>
                </c:pt>
                <c:pt idx="5">
                  <c:v>0.7427</c:v>
                </c:pt>
                <c:pt idx="6">
                  <c:v>0.6928</c:v>
                </c:pt>
                <c:pt idx="7">
                  <c:v>0.7146</c:v>
                </c:pt>
                <c:pt idx="8">
                  <c:v>0.7307</c:v>
                </c:pt>
                <c:pt idx="9">
                  <c:v>0.7531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430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8"/>
          <c:min val="0.6"/>
        </c:scaling>
        <c:delete val="0"/>
        <c:axPos val="b"/>
        <c:majorGridlines>
          <c:spPr>
            <a:ln w="9525" cap="flat">
              <a:solidFill>
                <a:srgbClr val="DDE3EA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785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7324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7324D"/>
                </a:solidFill>
                <a:latin typeface="+mn-lt"/>
              </a:rPr>
              <a:t>val macro-F1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250D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B7785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слова, свои эмбеддинги</c:v>
                  </c:pt>
                  <c:pt idx="1">
                    <c:v>подслова, случайные эмбеддинги</c:v>
                  </c:pt>
                  <c:pt idx="2">
                    <c:v>подслова, rubert-tiny2 заморожены</c:v>
                  </c:pt>
                  <c:pt idx="3">
                    <c:v>подслова, rubert-tiny2 дообучаются</c:v>
                  </c:pt>
                  <c:pt idx="4">
                    <c:v>rubert-tiny2 целиком</c:v>
                  </c:pt>
                  <c:pt idx="5">
                    <c:v>TF-IDF символы + логрег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0.7303</c:v>
                </c:pt>
                <c:pt idx="1">
                  <c:v>0.7196</c:v>
                </c:pt>
                <c:pt idx="2">
                  <c:v>0.7614</c:v>
                </c:pt>
                <c:pt idx="3">
                  <c:v>0.766</c:v>
                </c:pt>
                <c:pt idx="4">
                  <c:v>0.7566</c:v>
                </c:pt>
                <c:pt idx="5">
                  <c:v>0.7689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430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9"/>
          <c:min val="0.68"/>
        </c:scaling>
        <c:delete val="0"/>
        <c:axPos val="b"/>
        <c:majorGridlines>
          <c:spPr>
            <a:ln w="9525" cap="flat">
              <a:solidFill>
                <a:srgbClr val="DDE3EA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785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7324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7324D"/>
                </a:solidFill>
                <a:latin typeface="+mn-lt"/>
              </a:rPr>
              <a:t>macro-F1 на тесте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778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778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250D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B778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итоговая RNN (3 seed)</c:v>
                  </c:pt>
                  <c:pt idx="1">
                    <c:v>TF-IDF символы + логрег</c:v>
                  </c:pt>
                  <c:pt idx="2">
                    <c:v>TF-IDF слова + логрег</c:v>
                  </c:pt>
                  <c:pt idx="3">
                    <c:v>rubert-tiny2 целиком</c:v>
                  </c:pt>
                  <c:pt idx="4">
                    <c:v>BiLSTM этапа A</c:v>
                  </c:pt>
                  <c:pt idx="5">
                    <c:v>TF-IDF + случайный лес</c:v>
                  </c:pt>
                  <c:pt idx="6">
                    <c:v>BiLSTM, обрезка 50</c:v>
                  </c:pt>
                  <c:pt idx="7">
                    <c:v>простая RNN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0.751</c:v>
                </c:pt>
                <c:pt idx="1">
                  <c:v>0.74745</c:v>
                </c:pt>
                <c:pt idx="2">
                  <c:v>0.7463</c:v>
                </c:pt>
                <c:pt idx="3">
                  <c:v>0.7336</c:v>
                </c:pt>
                <c:pt idx="4">
                  <c:v>0.7219</c:v>
                </c:pt>
                <c:pt idx="5">
                  <c:v>0.6973</c:v>
                </c:pt>
                <c:pt idx="6">
                  <c:v>0.6778</c:v>
                </c:pt>
                <c:pt idx="7">
                  <c:v>0.6402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430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8"/>
          <c:min val="0.6"/>
        </c:scaling>
        <c:delete val="0"/>
        <c:axPos val="b"/>
        <c:majorGridlines>
          <c:spPr>
            <a:ln w="9525" cap="flat">
              <a:solidFill>
                <a:srgbClr val="DDE3EA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785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7324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7324D"/>
                </a:solidFill>
                <a:latin typeface="+mn-lt"/>
              </a:rPr>
              <a:t>macro-F1 на тесте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6250D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250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778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250D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Bektur756/rubert-tiny2 (их тест)</c:v>
                  </c:pt>
                  <c:pt idx="1">
                    <c:v>итоговая RNN (наш тест)</c:v>
                  </c:pt>
                  <c:pt idx="2">
                    <c:v>TF-IDF символы (наш тест)</c:v>
                  </c:pt>
                  <c:pt idx="3">
                    <c:v>rubert-tiny2 (наш тест)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0.7768</c:v>
                </c:pt>
                <c:pt idx="1">
                  <c:v>0.751</c:v>
                </c:pt>
                <c:pt idx="2">
                  <c:v>0.74745</c:v>
                </c:pt>
                <c:pt idx="3">
                  <c:v>0.7336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430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.6"/>
        </c:scaling>
        <c:delete val="0"/>
        <c:axPos val="b"/>
        <c:majorGridlines>
          <c:spPr>
            <a:ln w="9525" cap="flat">
              <a:solidFill>
                <a:srgbClr val="DDE3EA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785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Проект развивает вторую часть практики 10: классификация тональности русскоязычных отзывов рекуррентными сетями. Задача та же, данные те же, но эксперимент поставлен честно и подробно: без утечки данных, с выбором по валидации и разбором того, какие решения реально влияют на качество.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Главная проблема исходной постановки — утечка: словарь и обучающий набор строились по всему датасету, поэтому 0,99 в сохранённом выводе практики ничего не говорит о качестве. Кроме того, две трети текстов длиннее 50 токенов, а сравнение моделей по одному запуску не отделяет эффект от случайности.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Девять задач идут в порядке тетрадки. Важный принцип: все решения принимаются только по валидационной выборке по macro-F1, тест используется один раз в конце.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Источник данных — набор с HuggingFace. После очистки и разбиения словарь строится только по обучающей части. Батчи собираются из текстов похожей длины и упаковываются, чтобы сеть не читала дополнение нулями. Нейросети используются в трёх местах: рекуррентный классификатор, предобученные эмбеддинги rubert-tiny2 и дообучение rubert-tiny2 целиком как ориентир. Потребители результатов — таблицы и графики в results и figures, отчёт и эта презентация.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Текст режется на подслова токенизатором rubert-tiny2, каждое подслово получает предобученный вектор размерности 312. BiLSTM читает текст в обе стороны, последние состояния двух направлений склеиваются в вектор 256 и идут в линейный слой на три класса. Почти все параметры — в эмбеддингах, сама рекуррентная часть небольшая. Упаковка и инициализация взяты из лекции.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Весь проект — одна тетрадка и модуль с механикой. Перед обучением прямой и обратный проход рекуррентных слоёв на графическом процессоре Mac сверяются с CPU: расхождение на уровне ошибок округления, поэтому всё обучение шло на MPS. Полный расчёт — 124 минуты.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Проверка происхождения важна для сравнения с опубликованными моделями: все строки взяты из обучающей части большого набора MonoHime. Повторы удалены до разбиения, поэтому один и тот же текст не может оказаться и в обучении, и в тесте. Длина обрезки выбрана по 95-му процентилю — 256 токенов.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Каждый этап начинается с лучшей по валидации конфигурации предыдущего. Оптимизаторы и регуляризация сравниваются на одной лёгкой конфигурации, а лучшие находки затем объединяются на этапе G. Итоговая модель выбирается среди всех запусков только по валидации.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Красным отмечены варианты, которые заметно хуже базы, зелёным — лучшее объединение. Сильнее всего влияют вентили, длина текста и скорость обучения. Двунаправленность при правильной упаковке почти ничего не даёт: однонаправленная LSTM и BiLSTM — 0,7300 и 0,7303. Это ответ на первый вопрос практики.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Перенос обучения — самое сильное улучшение. Важный контроль: те же подслова со случайными векторами даже хуже словной модели, значит выигрыш даёт именно предобучение. Замороженный вариант почти так же хорош и втрое быстрее. Дообученный rubert-tiny2 с рецептом опубликованной модели оказался ниже: длина 128 подслов отрезает конец у 43 % текстов.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Итоговая модель выбрана как лучшая по валидации среди 23 конфигураций. Три seed дают разброс около 0,004: различия между конфигурациями меньше 0,007 по одному запуску считать существенными нельзя.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Итог честный: рекуррентная сеть заметно лучше моделей практики и чуть лучше дообученного трансформера, но на этих данных не превосходит хорошую классическую модель на символьных n-граммах. Разница с ней в пределах разброса по seed.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Матрицы ошибок трёх моделей почти одинаковы: главная путаница — положительные отзывы с оговорками, размеченные как нейтральные. RNN лучше всех находит отрицательные тексты, TF-IDF — нейтральные. Длинные тексты чаще смешанные, и ошибок на них больше.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Самые уверенные ошибки во многом выглядят как ошибки разметки: благодарность размечена как отрицательный отзыв и наоборот. Ещё один источник — разные правила разметки в исходных корпусах: новости о печальных событиях размечены как нейтральные. Ирония — слабое место обеих моделей.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 ответ на второй вопрос практики. Кластеры видны частично, и у итоговой модели лучше, чем у простой RNN. Зоны перемешивания совпадают с главной путаницей в матрице ошибок — между положительным и нейтральным классом.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Требование преподавателя — сравнить метрики с опубликованными. Для нашего набора их нет; ближайшая — rubert-tiny2 на исходном наборе: 0,777 на своём тесте. Наш результат на 3 пункта ниже при почти впятеро меньшем объёме обучения.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Цель достигнута: классификатор построен и обоснован, а эксперимент показал, какие решения важны. Главный практический вывод — без предобученных представлений рекуррентная сеть на 38 тысячах текстов не обгоняет хорошую классическую модель. Следующий шаг — больше данных и чистка разметки. Спасибо за внимание.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ru-RU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ru-RU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ru-RU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ru-RU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ru-RU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ru-RU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ru-RU" sz="19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ru-RU" sz="1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ru-RU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ru-RU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ru-RU" sz="1000" dirty="0">
                <a:solidFill>
                  <a:schemeClr val="accent4"/>
                </a:solidFill>
              </a:rPr>
              <a:t>Подольский Ф. · проект «Нейронные сети» · тональность отзывов</a:t>
            </a:r>
            <a:endParaRPr lang="ru-RU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ru-RU"/>
              <a:t>1004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ru-RU"/>
              <a:t>null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ru-RU" sz="4000" b="1" dirty="0">
                <a:solidFill>
                  <a:schemeClr val="bg1"/>
                </a:solidFill>
              </a:rPr>
              <a:t>Тональность русскоязычных отзывов: рекуррентные нейросети</a:t>
            </a:r>
            <a:endParaRPr lang="ru-RU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ru-RU" sz="1800" dirty="0">
                <a:solidFill>
                  <a:schemeClr val="bg2"/>
                </a:solidFill>
              </a:rPr>
              <a:t>Финальный проект по дисциплине «Нейронные сети»</a:t>
            </a:r>
            <a:endParaRPr lang="ru-RU" sz="1800" dirty="0"/>
          </a:p>
          <a:p>
            <a:pPr algn="l" indent="0" marL="0">
              <a:buNone/>
            </a:pPr>
            <a:r>
              <a:rPr lang="ru-RU" sz="1800" dirty="0">
                <a:solidFill>
                  <a:schemeClr val="bg2"/>
                </a:solidFill>
              </a:rPr>
              <a:t>Подольский Филипп, магистратура ПМИ, ФМИ ПГНИУ</a:t>
            </a:r>
            <a:endParaRPr lang="ru-RU" sz="1800" dirty="0"/>
          </a:p>
          <a:p>
            <a:pPr algn="l" indent="0" marL="0">
              <a:buNone/>
            </a:pPr>
            <a:r>
              <a:rPr lang="ru-RU" sz="1800" dirty="0">
                <a:solidFill>
                  <a:schemeClr val="bg2"/>
                </a:solidFill>
              </a:rPr>
              <a:t>Преподаватель — И. П. Селетков · Пермь, 2026</a:t>
            </a:r>
            <a:endParaRPr lang="ru-RU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ru-RU" sz="3000" b="1" dirty="0">
                <a:solidFill>
                  <a:schemeClr val="tx2"/>
                </a:solidFill>
              </a:rPr>
              <a:t>Актуальность и проблема</a:t>
            </a:r>
            <a:endParaRPr lang="ru-RU" sz="3000" dirty="0"/>
          </a:p>
        </p:txBody>
      </p:sp>
      <p:sp>
        <p:nvSpPr>
          <p:cNvPr id="3" name="problem_text"/>
          <p:cNvSpPr txBox="1"/>
          <p:nvPr/>
        </p:nvSpPr>
        <p:spPr>
          <a:xfrm>
            <a:off x="548640" y="1325880"/>
            <a:ext cx="66751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ru-RU" sz="1600" b="1" dirty="0">
                <a:solidFill>
                  <a:schemeClr val="tx1"/>
                </a:solidFill>
              </a:rPr>
              <a:t>Актуальность. </a:t>
            </a:r>
            <a:pPr indent="0" marL="0">
              <a:spcAft>
                <a:spcPts val="1200"/>
              </a:spcAft>
              <a:buNone/>
            </a:pPr>
            <a:r>
              <a:rPr lang="ru-RU" sz="1600" dirty="0">
                <a:solidFill>
                  <a:schemeClr val="tx1"/>
                </a:solidFill>
              </a:rPr>
              <a:t>Отзывы об отелях, клиниках, ресторанах и банках — поток текста, который вручную не прочитать. Автоматическая оценка тональности нужна, чтобы отслеживать качество сервиса и быстро находить жалобы.</a:t>
            </a:r>
            <a:endParaRPr lang="ru-RU" sz="1600" dirty="0"/>
          </a:p>
          <a:p>
            <a:pPr marL="342900" indent="-342900">
              <a:buSzPct val="100000"/>
              <a:buChar char="•"/>
            </a:pPr>
            <a:r>
              <a:rPr lang="ru-RU" sz="1600" b="1" dirty="0">
                <a:solidFill>
                  <a:schemeClr val="tx1"/>
                </a:solidFill>
              </a:rPr>
              <a:t>Исходная постановка — практика 10. </a:t>
            </a:r>
            <a:pPr indent="0" marL="0">
              <a:spcAft>
                <a:spcPts val="1200"/>
              </a:spcAft>
              <a:buNone/>
            </a:pPr>
            <a:r>
              <a:rPr lang="ru-RU" sz="1600" dirty="0">
                <a:solidFill>
                  <a:schemeClr val="tx1"/>
                </a:solidFill>
              </a:rPr>
              <a:t>BiLSTM по словам, обрезка текста до 50 слов, сравнение по одному запуску. Словарь и обучение строились по всему набору, включая валидацию и тест.</a:t>
            </a:r>
            <a:endParaRPr lang="ru-RU" sz="1600" dirty="0"/>
          </a:p>
          <a:p>
            <a:pPr marL="342900" indent="-342900">
              <a:buSzPct val="100000"/>
              <a:buChar char="•"/>
            </a:pPr>
            <a:r>
              <a:rPr lang="ru-RU" sz="1600" b="1" dirty="0">
                <a:solidFill>
                  <a:schemeClr val="tx1"/>
                </a:solidFill>
              </a:rPr>
              <a:t>Проблема. </a:t>
            </a:r>
            <a:pPr indent="0" marL="0">
              <a:spcAft>
                <a:spcPts val="1200"/>
              </a:spcAft>
              <a:buNone/>
            </a:pPr>
            <a:r>
              <a:rPr lang="ru-RU" sz="1600" dirty="0">
                <a:solidFill>
                  <a:schemeClr val="tx1"/>
                </a:solidFill>
              </a:rPr>
              <a:t>Неизвестно, какие решения действительно влияют на качество — тип ячейки, длина текста, размер сети, оптимизатор, регуляризация, предобученные эмбеддинги — и выигрывает ли рекуррентная сеть у простых методов.</a:t>
            </a:r>
            <a:endParaRPr lang="ru-RU" sz="1600" dirty="0"/>
          </a:p>
        </p:txBody>
      </p:sp>
      <p:sp>
        <p:nvSpPr>
          <p:cNvPr id="4" name="n_texts_card"/>
          <p:cNvSpPr/>
          <p:nvPr/>
        </p:nvSpPr>
        <p:spPr>
          <a:xfrm>
            <a:off x="7680960" y="1371600"/>
            <a:ext cx="39319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_texts_value"/>
          <p:cNvSpPr txBox="1"/>
          <p:nvPr/>
        </p:nvSpPr>
        <p:spPr>
          <a:xfrm>
            <a:off x="7845552" y="1463040"/>
            <a:ext cx="3602736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ru-RU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48 212</a:t>
            </a:r>
            <a:endParaRPr lang="ru-RU" sz="2800" dirty="0"/>
          </a:p>
        </p:txBody>
      </p:sp>
      <p:sp>
        <p:nvSpPr>
          <p:cNvPr id="6" name="n_texts_label"/>
          <p:cNvSpPr txBox="1"/>
          <p:nvPr/>
        </p:nvSpPr>
        <p:spPr>
          <a:xfrm>
            <a:off x="7845552" y="2221992"/>
            <a:ext cx="3602736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отзывов, три класса поровну: нейтральные, положительные, отрицательные</a:t>
            </a:r>
            <a:endParaRPr lang="ru-RU" sz="1300" dirty="0"/>
          </a:p>
        </p:txBody>
      </p:sp>
      <p:sp>
        <p:nvSpPr>
          <p:cNvPr id="7" name="leak_card"/>
          <p:cNvSpPr/>
          <p:nvPr/>
        </p:nvSpPr>
        <p:spPr>
          <a:xfrm>
            <a:off x="7680960" y="3017520"/>
            <a:ext cx="39319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ak_value"/>
          <p:cNvSpPr txBox="1"/>
          <p:nvPr/>
        </p:nvSpPr>
        <p:spPr>
          <a:xfrm>
            <a:off x="7845552" y="3108960"/>
            <a:ext cx="3602736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ru-RU" sz="2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0,99</a:t>
            </a:r>
            <a:endParaRPr lang="ru-RU" sz="2800" dirty="0"/>
          </a:p>
        </p:txBody>
      </p:sp>
      <p:sp>
        <p:nvSpPr>
          <p:cNvPr id="9" name="leak_label"/>
          <p:cNvSpPr txBox="1"/>
          <p:nvPr/>
        </p:nvSpPr>
        <p:spPr>
          <a:xfrm>
            <a:off x="7845552" y="3867912"/>
            <a:ext cx="3602736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val accuracy в практике 10 — не оценка качества: валидация входила в обучение</a:t>
            </a:r>
            <a:endParaRPr lang="ru-RU" sz="1300" dirty="0"/>
          </a:p>
        </p:txBody>
      </p:sp>
      <p:sp>
        <p:nvSpPr>
          <p:cNvPr id="10" name="long_card"/>
          <p:cNvSpPr/>
          <p:nvPr/>
        </p:nvSpPr>
        <p:spPr>
          <a:xfrm>
            <a:off x="7680960" y="4663440"/>
            <a:ext cx="39319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long_value"/>
          <p:cNvSpPr txBox="1"/>
          <p:nvPr/>
        </p:nvSpPr>
        <p:spPr>
          <a:xfrm>
            <a:off x="7845552" y="4754880"/>
            <a:ext cx="3602736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ru-RU" sz="2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66 %</a:t>
            </a:r>
            <a:endParaRPr lang="ru-RU" sz="2800" dirty="0"/>
          </a:p>
        </p:txBody>
      </p:sp>
      <p:sp>
        <p:nvSpPr>
          <p:cNvPr id="12" name="long_label"/>
          <p:cNvSpPr txBox="1"/>
          <p:nvPr/>
        </p:nvSpPr>
        <p:spPr>
          <a:xfrm>
            <a:off x="7845552" y="5513832"/>
            <a:ext cx="3602736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текстов длиннее 50 токенов — у них обрезка практики теряет конец</a:t>
            </a:r>
            <a:endParaRPr lang="ru-RU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ru-RU"/>
              <a:t>2</a:t>
            </a:fld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ru-RU" sz="3000" b="1" dirty="0">
                <a:solidFill>
                  <a:schemeClr val="tx2"/>
                </a:solidFill>
              </a:rPr>
              <a:t>Цель и задачи</a:t>
            </a:r>
            <a:endParaRPr lang="ru-RU" sz="3000" dirty="0"/>
          </a:p>
        </p:txBody>
      </p:sp>
      <p:sp>
        <p:nvSpPr>
          <p:cNvPr id="3" name="goal"/>
          <p:cNvSpPr txBox="1"/>
          <p:nvPr/>
        </p:nvSpPr>
        <p:spPr>
          <a:xfrm>
            <a:off x="548640" y="12344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ru-RU" sz="1700" b="1" dirty="0">
                <a:solidFill>
                  <a:schemeClr val="accent1"/>
                </a:solidFill>
              </a:rPr>
              <a:t>Цель: </a:t>
            </a:r>
            <a:pPr indent="0" marL="0">
              <a:buNone/>
            </a:pPr>
            <a:r>
              <a:rPr lang="ru-RU" sz="1700" dirty="0">
                <a:solidFill>
                  <a:schemeClr val="tx1"/>
                </a:solidFill>
              </a:rPr>
              <a:t>построить и обосновать рекуррентный классификатор тональности (нейтральный / позитивный / негативный) и экспериментально выяснить, какие решения влияют на качество</a:t>
            </a:r>
            <a:endParaRPr lang="ru-RU" sz="1700" dirty="0"/>
          </a:p>
        </p:txBody>
      </p:sp>
      <p:sp>
        <p:nvSpPr>
          <p:cNvPr id="4" name="task0_card"/>
          <p:cNvSpPr/>
          <p:nvPr/>
        </p:nvSpPr>
        <p:spPr>
          <a:xfrm>
            <a:off x="548640" y="2240280"/>
            <a:ext cx="35204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ask0_dot"/>
          <p:cNvSpPr/>
          <p:nvPr/>
        </p:nvSpPr>
        <p:spPr>
          <a:xfrm>
            <a:off x="713232" y="257860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ask0_num"/>
          <p:cNvSpPr txBox="1"/>
          <p:nvPr/>
        </p:nvSpPr>
        <p:spPr>
          <a:xfrm>
            <a:off x="713232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chemeClr val="bg1"/>
                </a:solidFill>
              </a:rPr>
              <a:t>1</a:t>
            </a:r>
            <a:endParaRPr lang="ru-RU" sz="1600" dirty="0"/>
          </a:p>
        </p:txBody>
      </p:sp>
      <p:sp>
        <p:nvSpPr>
          <p:cNvPr id="7" name="task0_text"/>
          <p:cNvSpPr txBox="1"/>
          <p:nvPr/>
        </p:nvSpPr>
        <p:spPr>
          <a:xfrm>
            <a:off x="1353312" y="23317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400" dirty="0">
                <a:solidFill>
                  <a:schemeClr val="tx1"/>
                </a:solidFill>
              </a:rPr>
              <a:t>Описать и очистить данные, проверить происхождение набора</a:t>
            </a:r>
            <a:endParaRPr lang="ru-RU" sz="1400" dirty="0"/>
          </a:p>
        </p:txBody>
      </p:sp>
      <p:sp>
        <p:nvSpPr>
          <p:cNvPr id="8" name="task1_card"/>
          <p:cNvSpPr/>
          <p:nvPr/>
        </p:nvSpPr>
        <p:spPr>
          <a:xfrm>
            <a:off x="4279392" y="2240280"/>
            <a:ext cx="35204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ask1_dot"/>
          <p:cNvSpPr/>
          <p:nvPr/>
        </p:nvSpPr>
        <p:spPr>
          <a:xfrm>
            <a:off x="4443984" y="257860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ask1_num"/>
          <p:cNvSpPr txBox="1"/>
          <p:nvPr/>
        </p:nvSpPr>
        <p:spPr>
          <a:xfrm>
            <a:off x="4443984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chemeClr val="bg1"/>
                </a:solidFill>
              </a:rPr>
              <a:t>2</a:t>
            </a:r>
            <a:endParaRPr lang="ru-RU" sz="1600" dirty="0"/>
          </a:p>
        </p:txBody>
      </p:sp>
      <p:sp>
        <p:nvSpPr>
          <p:cNvPr id="11" name="task1_text"/>
          <p:cNvSpPr txBox="1"/>
          <p:nvPr/>
        </p:nvSpPr>
        <p:spPr>
          <a:xfrm>
            <a:off x="5084064" y="23317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400" dirty="0">
                <a:solidFill>
                  <a:schemeClr val="tx1"/>
                </a:solidFill>
              </a:rPr>
              <a:t>Разбить 80 / 10 / 10 без пересечений, словарь — только по train</a:t>
            </a:r>
            <a:endParaRPr lang="ru-RU" sz="1400" dirty="0"/>
          </a:p>
        </p:txBody>
      </p:sp>
      <p:sp>
        <p:nvSpPr>
          <p:cNvPr id="12" name="task2_card"/>
          <p:cNvSpPr/>
          <p:nvPr/>
        </p:nvSpPr>
        <p:spPr>
          <a:xfrm>
            <a:off x="8010144" y="2240280"/>
            <a:ext cx="35204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ask2_dot"/>
          <p:cNvSpPr/>
          <p:nvPr/>
        </p:nvSpPr>
        <p:spPr>
          <a:xfrm>
            <a:off x="8174736" y="257860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ask2_num"/>
          <p:cNvSpPr txBox="1"/>
          <p:nvPr/>
        </p:nvSpPr>
        <p:spPr>
          <a:xfrm>
            <a:off x="8174736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chemeClr val="bg1"/>
                </a:solidFill>
              </a:rPr>
              <a:t>3</a:t>
            </a:r>
            <a:endParaRPr lang="ru-RU" sz="1600" dirty="0"/>
          </a:p>
        </p:txBody>
      </p:sp>
      <p:sp>
        <p:nvSpPr>
          <p:cNvPr id="15" name="task2_text"/>
          <p:cNvSpPr txBox="1"/>
          <p:nvPr/>
        </p:nvSpPr>
        <p:spPr>
          <a:xfrm>
            <a:off x="8814816" y="23317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400" dirty="0">
                <a:solidFill>
                  <a:schemeClr val="tx1"/>
                </a:solidFill>
              </a:rPr>
              <a:t>Базовые модели: константа, TF-IDF + логрег, случайный лес</a:t>
            </a:r>
            <a:endParaRPr lang="ru-RU" sz="1400" dirty="0"/>
          </a:p>
        </p:txBody>
      </p:sp>
      <p:sp>
        <p:nvSpPr>
          <p:cNvPr id="16" name="task3_card"/>
          <p:cNvSpPr/>
          <p:nvPr/>
        </p:nvSpPr>
        <p:spPr>
          <a:xfrm>
            <a:off x="548640" y="3611880"/>
            <a:ext cx="35204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ask3_dot"/>
          <p:cNvSpPr/>
          <p:nvPr/>
        </p:nvSpPr>
        <p:spPr>
          <a:xfrm>
            <a:off x="713232" y="395020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ask3_num"/>
          <p:cNvSpPr txBox="1"/>
          <p:nvPr/>
        </p:nvSpPr>
        <p:spPr>
          <a:xfrm>
            <a:off x="713232" y="3950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chemeClr val="bg1"/>
                </a:solidFill>
              </a:rPr>
              <a:t>4</a:t>
            </a:r>
            <a:endParaRPr lang="ru-RU" sz="1600" dirty="0"/>
          </a:p>
        </p:txBody>
      </p:sp>
      <p:sp>
        <p:nvSpPr>
          <p:cNvPr id="19" name="task3_text"/>
          <p:cNvSpPr txBox="1"/>
          <p:nvPr/>
        </p:nvSpPr>
        <p:spPr>
          <a:xfrm>
            <a:off x="1353312" y="37033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400" dirty="0">
                <a:solidFill>
                  <a:schemeClr val="tx1"/>
                </a:solidFill>
              </a:rPr>
              <a:t>Сравнить RNN, LSTM, GRU, BiLSTM, BiGRU и длину обрезки</a:t>
            </a:r>
            <a:endParaRPr lang="ru-RU" sz="1400" dirty="0"/>
          </a:p>
        </p:txBody>
      </p:sp>
      <p:sp>
        <p:nvSpPr>
          <p:cNvPr id="20" name="task4_card"/>
          <p:cNvSpPr/>
          <p:nvPr/>
        </p:nvSpPr>
        <p:spPr>
          <a:xfrm>
            <a:off x="4279392" y="3611880"/>
            <a:ext cx="35204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ask4_dot"/>
          <p:cNvSpPr/>
          <p:nvPr/>
        </p:nvSpPr>
        <p:spPr>
          <a:xfrm>
            <a:off x="4443984" y="395020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ask4_num"/>
          <p:cNvSpPr txBox="1"/>
          <p:nvPr/>
        </p:nvSpPr>
        <p:spPr>
          <a:xfrm>
            <a:off x="4443984" y="3950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chemeClr val="bg1"/>
                </a:solidFill>
              </a:rPr>
              <a:t>5</a:t>
            </a:r>
            <a:endParaRPr lang="ru-RU" sz="1600" dirty="0"/>
          </a:p>
        </p:txBody>
      </p:sp>
      <p:sp>
        <p:nvSpPr>
          <p:cNvPr id="23" name="task4_text"/>
          <p:cNvSpPr txBox="1"/>
          <p:nvPr/>
        </p:nvSpPr>
        <p:spPr>
          <a:xfrm>
            <a:off x="5084064" y="37033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400" dirty="0">
                <a:solidFill>
                  <a:schemeClr val="tx1"/>
                </a:solidFill>
              </a:rPr>
              <a:t>Размер скрытого состояния, число слоёв, оптимизаторы</a:t>
            </a:r>
            <a:endParaRPr lang="ru-RU" sz="1400" dirty="0"/>
          </a:p>
        </p:txBody>
      </p:sp>
      <p:sp>
        <p:nvSpPr>
          <p:cNvPr id="24" name="task5_card"/>
          <p:cNvSpPr/>
          <p:nvPr/>
        </p:nvSpPr>
        <p:spPr>
          <a:xfrm>
            <a:off x="8010144" y="3611880"/>
            <a:ext cx="35204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ask5_dot"/>
          <p:cNvSpPr/>
          <p:nvPr/>
        </p:nvSpPr>
        <p:spPr>
          <a:xfrm>
            <a:off x="8174736" y="395020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ask5_num"/>
          <p:cNvSpPr txBox="1"/>
          <p:nvPr/>
        </p:nvSpPr>
        <p:spPr>
          <a:xfrm>
            <a:off x="8174736" y="3950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chemeClr val="bg1"/>
                </a:solidFill>
              </a:rPr>
              <a:t>6</a:t>
            </a:r>
            <a:endParaRPr lang="ru-RU" sz="1600" dirty="0"/>
          </a:p>
        </p:txBody>
      </p:sp>
      <p:sp>
        <p:nvSpPr>
          <p:cNvPr id="27" name="task5_text"/>
          <p:cNvSpPr txBox="1"/>
          <p:nvPr/>
        </p:nvSpPr>
        <p:spPr>
          <a:xfrm>
            <a:off x="8814816" y="37033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400" dirty="0">
                <a:solidFill>
                  <a:schemeClr val="tx1"/>
                </a:solidFill>
              </a:rPr>
              <a:t>Регуляризация: dropout, обрезка градиента, ранняя остановка</a:t>
            </a:r>
            <a:endParaRPr lang="ru-RU" sz="1400" dirty="0"/>
          </a:p>
        </p:txBody>
      </p:sp>
      <p:sp>
        <p:nvSpPr>
          <p:cNvPr id="28" name="task6_card"/>
          <p:cNvSpPr/>
          <p:nvPr/>
        </p:nvSpPr>
        <p:spPr>
          <a:xfrm>
            <a:off x="548640" y="4983480"/>
            <a:ext cx="35204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ask6_dot"/>
          <p:cNvSpPr/>
          <p:nvPr/>
        </p:nvSpPr>
        <p:spPr>
          <a:xfrm>
            <a:off x="713232" y="532180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ask6_num"/>
          <p:cNvSpPr txBox="1"/>
          <p:nvPr/>
        </p:nvSpPr>
        <p:spPr>
          <a:xfrm>
            <a:off x="713232" y="5321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chemeClr val="bg1"/>
                </a:solidFill>
              </a:rPr>
              <a:t>7</a:t>
            </a:r>
            <a:endParaRPr lang="ru-RU" sz="1600" dirty="0"/>
          </a:p>
        </p:txBody>
      </p:sp>
      <p:sp>
        <p:nvSpPr>
          <p:cNvPr id="31" name="task6_text"/>
          <p:cNvSpPr txBox="1"/>
          <p:nvPr/>
        </p:nvSpPr>
        <p:spPr>
          <a:xfrm>
            <a:off x="1353312" y="50749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400" dirty="0">
                <a:solidFill>
                  <a:schemeClr val="tx1"/>
                </a:solidFill>
              </a:rPr>
              <a:t>Перенос обучения: эмбеддинги и дообучение rubert-tiny2</a:t>
            </a:r>
            <a:endParaRPr lang="ru-RU" sz="1400" dirty="0"/>
          </a:p>
        </p:txBody>
      </p:sp>
      <p:sp>
        <p:nvSpPr>
          <p:cNvPr id="32" name="task7_card"/>
          <p:cNvSpPr/>
          <p:nvPr/>
        </p:nvSpPr>
        <p:spPr>
          <a:xfrm>
            <a:off x="4279392" y="4983480"/>
            <a:ext cx="35204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ask7_dot"/>
          <p:cNvSpPr/>
          <p:nvPr/>
        </p:nvSpPr>
        <p:spPr>
          <a:xfrm>
            <a:off x="4443984" y="532180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ask7_num"/>
          <p:cNvSpPr txBox="1"/>
          <p:nvPr/>
        </p:nvSpPr>
        <p:spPr>
          <a:xfrm>
            <a:off x="4443984" y="5321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chemeClr val="bg1"/>
                </a:solidFill>
              </a:rPr>
              <a:t>8</a:t>
            </a:r>
            <a:endParaRPr lang="ru-RU" sz="1600" dirty="0"/>
          </a:p>
        </p:txBody>
      </p:sp>
      <p:sp>
        <p:nvSpPr>
          <p:cNvPr id="35" name="task7_text"/>
          <p:cNvSpPr txBox="1"/>
          <p:nvPr/>
        </p:nvSpPr>
        <p:spPr>
          <a:xfrm>
            <a:off x="5084064" y="50749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400" dirty="0">
                <a:solidFill>
                  <a:schemeClr val="tx1"/>
                </a:solidFill>
              </a:rPr>
              <a:t>Один раз оценить на тесте, разобрать ошибки, t-SNE</a:t>
            </a:r>
            <a:endParaRPr lang="ru-RU" sz="1400" dirty="0"/>
          </a:p>
        </p:txBody>
      </p:sp>
      <p:sp>
        <p:nvSpPr>
          <p:cNvPr id="36" name="task8_card"/>
          <p:cNvSpPr/>
          <p:nvPr/>
        </p:nvSpPr>
        <p:spPr>
          <a:xfrm>
            <a:off x="8010144" y="4983480"/>
            <a:ext cx="35204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task8_dot"/>
          <p:cNvSpPr/>
          <p:nvPr/>
        </p:nvSpPr>
        <p:spPr>
          <a:xfrm>
            <a:off x="8174736" y="532180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task8_num"/>
          <p:cNvSpPr txBox="1"/>
          <p:nvPr/>
        </p:nvSpPr>
        <p:spPr>
          <a:xfrm>
            <a:off x="8174736" y="5321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chemeClr val="bg1"/>
                </a:solidFill>
              </a:rPr>
              <a:t>9</a:t>
            </a:r>
            <a:endParaRPr lang="ru-RU" sz="1600" dirty="0"/>
          </a:p>
        </p:txBody>
      </p:sp>
      <p:sp>
        <p:nvSpPr>
          <p:cNvPr id="39" name="task8_text"/>
          <p:cNvSpPr txBox="1"/>
          <p:nvPr/>
        </p:nvSpPr>
        <p:spPr>
          <a:xfrm>
            <a:off x="8814816" y="50749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400" dirty="0">
                <a:solidFill>
                  <a:schemeClr val="tx1"/>
                </a:solidFill>
              </a:rPr>
              <a:t>Сравнить с опубликованными метриками на HuggingFace</a:t>
            </a:r>
            <a:endParaRPr lang="ru-RU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ru-RU"/>
              <a:t>3</a:t>
            </a:fld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ru-RU" sz="3000" b="1" dirty="0">
                <a:solidFill>
                  <a:schemeClr val="tx2"/>
                </a:solidFill>
              </a:rPr>
              <a:t>Структура решения и потоки данных</a:t>
            </a:r>
            <a:endParaRPr lang="ru-RU" sz="3000" dirty="0"/>
          </a:p>
        </p:txBody>
      </p:sp>
      <p:sp>
        <p:nvSpPr>
          <p:cNvPr id="3" name="src_box"/>
          <p:cNvSpPr/>
          <p:nvPr/>
        </p:nvSpPr>
        <p:spPr>
          <a:xfrm>
            <a:off x="548640" y="1325880"/>
            <a:ext cx="25146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4" name="src_text"/>
          <p:cNvSpPr txBox="1"/>
          <p:nvPr/>
        </p:nvSpPr>
        <p:spPr>
          <a:xfrm>
            <a:off x="640080" y="1371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HuggingFace: Megnis/ru_sentiment_dataset-50000</a:t>
            </a:r>
            <a:endParaRPr lang="ru-RU" sz="1300" dirty="0"/>
          </a:p>
        </p:txBody>
      </p:sp>
      <p:sp>
        <p:nvSpPr>
          <p:cNvPr id="5" name="clean_box"/>
          <p:cNvSpPr/>
          <p:nvPr/>
        </p:nvSpPr>
        <p:spPr>
          <a:xfrm>
            <a:off x="3401568" y="1325880"/>
            <a:ext cx="25146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6" name="clean_text"/>
          <p:cNvSpPr txBox="1"/>
          <p:nvPr/>
        </p:nvSpPr>
        <p:spPr>
          <a:xfrm>
            <a:off x="3493008" y="1371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Очистка: −984 повтора; проверка происхождения</a:t>
            </a:r>
            <a:endParaRPr lang="ru-RU" sz="1300" dirty="0"/>
          </a:p>
        </p:txBody>
      </p:sp>
      <p:sp>
        <p:nvSpPr>
          <p:cNvPr id="7" name="split_box"/>
          <p:cNvSpPr/>
          <p:nvPr/>
        </p:nvSpPr>
        <p:spPr>
          <a:xfrm>
            <a:off x="6254496" y="1325880"/>
            <a:ext cx="25146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8" name="split_text"/>
          <p:cNvSpPr txBox="1"/>
          <p:nvPr/>
        </p:nvSpPr>
        <p:spPr>
          <a:xfrm>
            <a:off x="6345936" y="1371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Разбиение 80 / 10 / 10 без пересечений</a:t>
            </a:r>
            <a:endParaRPr lang="ru-RU" sz="1300" dirty="0"/>
          </a:p>
        </p:txBody>
      </p:sp>
      <p:sp>
        <p:nvSpPr>
          <p:cNvPr id="9" name="tok_box"/>
          <p:cNvSpPr/>
          <p:nvPr/>
        </p:nvSpPr>
        <p:spPr>
          <a:xfrm>
            <a:off x="9107424" y="1325880"/>
            <a:ext cx="25146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0" name="tok_text"/>
          <p:cNvSpPr txBox="1"/>
          <p:nvPr/>
        </p:nvSpPr>
        <p:spPr>
          <a:xfrm>
            <a:off x="9198864" y="1371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Токенизация и словарь — только по train</a:t>
            </a:r>
            <a:endParaRPr lang="ru-RU" sz="1300" dirty="0"/>
          </a:p>
        </p:txBody>
      </p:sp>
      <p:sp>
        <p:nvSpPr>
          <p:cNvPr id="11" name="a1_0"/>
          <p:cNvSpPr/>
          <p:nvPr/>
        </p:nvSpPr>
        <p:spPr>
          <a:xfrm>
            <a:off x="3063240" y="1805940"/>
            <a:ext cx="338328" cy="914"/>
          </a:xfrm>
          <a:prstGeom prst="line">
            <a:avLst/>
          </a:prstGeom>
          <a:noFill/>
          <a:ln w="2222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12" name="a1_1"/>
          <p:cNvSpPr/>
          <p:nvPr/>
        </p:nvSpPr>
        <p:spPr>
          <a:xfrm>
            <a:off x="5916168" y="1805940"/>
            <a:ext cx="338328" cy="914"/>
          </a:xfrm>
          <a:prstGeom prst="line">
            <a:avLst/>
          </a:prstGeom>
          <a:noFill/>
          <a:ln w="2222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13" name="a1_2"/>
          <p:cNvSpPr/>
          <p:nvPr/>
        </p:nvSpPr>
        <p:spPr>
          <a:xfrm>
            <a:off x="8769096" y="1805940"/>
            <a:ext cx="338328" cy="914"/>
          </a:xfrm>
          <a:prstGeom prst="line">
            <a:avLst/>
          </a:prstGeom>
          <a:noFill/>
          <a:ln w="2222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14" name="elbow1"/>
          <p:cNvSpPr/>
          <p:nvPr/>
        </p:nvSpPr>
        <p:spPr>
          <a:xfrm>
            <a:off x="10364724" y="2286000"/>
            <a:ext cx="914" cy="274320"/>
          </a:xfrm>
          <a:prstGeom prst="line">
            <a:avLst/>
          </a:prstGeom>
          <a:noFill/>
          <a:ln w="22225">
            <a:solidFill>
              <a:srgbClr val="6B7785"/>
            </a:solidFill>
            <a:prstDash val="solid"/>
          </a:ln>
        </p:spPr>
      </p:sp>
      <p:sp>
        <p:nvSpPr>
          <p:cNvPr id="15" name="elbow2"/>
          <p:cNvSpPr/>
          <p:nvPr/>
        </p:nvSpPr>
        <p:spPr>
          <a:xfrm>
            <a:off x="1805940" y="2560320"/>
            <a:ext cx="8558784" cy="914"/>
          </a:xfrm>
          <a:prstGeom prst="line">
            <a:avLst/>
          </a:prstGeom>
          <a:noFill/>
          <a:ln w="22225">
            <a:solidFill>
              <a:srgbClr val="6B7785"/>
            </a:solidFill>
            <a:prstDash val="solid"/>
          </a:ln>
        </p:spPr>
      </p:sp>
      <p:sp>
        <p:nvSpPr>
          <p:cNvPr id="16" name="elbow3"/>
          <p:cNvSpPr/>
          <p:nvPr/>
        </p:nvSpPr>
        <p:spPr>
          <a:xfrm>
            <a:off x="1805940" y="2560320"/>
            <a:ext cx="914" cy="320040"/>
          </a:xfrm>
          <a:prstGeom prst="line">
            <a:avLst/>
          </a:prstGeom>
          <a:noFill/>
          <a:ln w="2222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17" name="batch_box"/>
          <p:cNvSpPr/>
          <p:nvPr/>
        </p:nvSpPr>
        <p:spPr>
          <a:xfrm>
            <a:off x="548640" y="2880360"/>
            <a:ext cx="25146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8" name="batch_text"/>
          <p:cNvSpPr txBox="1"/>
          <p:nvPr/>
        </p:nvSpPr>
        <p:spPr>
          <a:xfrm>
            <a:off x="640080" y="29260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Батчи текстов похожей длины, упаковка</a:t>
            </a:r>
            <a:endParaRPr lang="ru-RU" sz="1300" dirty="0"/>
          </a:p>
        </p:txBody>
      </p:sp>
      <p:sp>
        <p:nvSpPr>
          <p:cNvPr id="19" name="rnn_box"/>
          <p:cNvSpPr/>
          <p:nvPr/>
        </p:nvSpPr>
        <p:spPr>
          <a:xfrm>
            <a:off x="3401568" y="2880360"/>
            <a:ext cx="2514600" cy="960120"/>
          </a:xfrm>
          <a:prstGeom prst="roundRect">
            <a:avLst>
              <a:gd name="adj" fmla="val 952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rnn_text"/>
          <p:cNvSpPr txBox="1"/>
          <p:nvPr/>
        </p:nvSpPr>
        <p:spPr>
          <a:xfrm>
            <a:off x="3493008" y="29260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300" dirty="0">
                <a:solidFill>
                  <a:schemeClr val="bg1"/>
                </a:solidFill>
              </a:rPr>
              <a:t>Рекуррентный классификатор: BiLSTM</a:t>
            </a:r>
            <a:endParaRPr lang="ru-RU" sz="1300" dirty="0"/>
          </a:p>
        </p:txBody>
      </p:sp>
      <p:sp>
        <p:nvSpPr>
          <p:cNvPr id="21" name="eval_box"/>
          <p:cNvSpPr/>
          <p:nvPr/>
        </p:nvSpPr>
        <p:spPr>
          <a:xfrm>
            <a:off x="6254496" y="2880360"/>
            <a:ext cx="25146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2" name="eval_text"/>
          <p:cNvSpPr txBox="1"/>
          <p:nvPr/>
        </p:nvSpPr>
        <p:spPr>
          <a:xfrm>
            <a:off x="6345936" y="29260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Выбор по val macro-F1, тест — один раз</a:t>
            </a:r>
            <a:endParaRPr lang="ru-RU" sz="1300" dirty="0"/>
          </a:p>
        </p:txBody>
      </p:sp>
      <p:sp>
        <p:nvSpPr>
          <p:cNvPr id="23" name="out_box"/>
          <p:cNvSpPr/>
          <p:nvPr/>
        </p:nvSpPr>
        <p:spPr>
          <a:xfrm>
            <a:off x="9107424" y="2880360"/>
            <a:ext cx="25146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4" name="out_text"/>
          <p:cNvSpPr txBox="1"/>
          <p:nvPr/>
        </p:nvSpPr>
        <p:spPr>
          <a:xfrm>
            <a:off x="9198864" y="29260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results/, figures/, отчёт, презентация</a:t>
            </a:r>
            <a:endParaRPr lang="ru-RU" sz="1300" dirty="0"/>
          </a:p>
        </p:txBody>
      </p:sp>
      <p:sp>
        <p:nvSpPr>
          <p:cNvPr id="25" name="a2_0"/>
          <p:cNvSpPr/>
          <p:nvPr/>
        </p:nvSpPr>
        <p:spPr>
          <a:xfrm>
            <a:off x="3063240" y="3360420"/>
            <a:ext cx="338328" cy="914"/>
          </a:xfrm>
          <a:prstGeom prst="line">
            <a:avLst/>
          </a:prstGeom>
          <a:noFill/>
          <a:ln w="2222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26" name="a2_1"/>
          <p:cNvSpPr/>
          <p:nvPr/>
        </p:nvSpPr>
        <p:spPr>
          <a:xfrm>
            <a:off x="5916168" y="3360420"/>
            <a:ext cx="338328" cy="914"/>
          </a:xfrm>
          <a:prstGeom prst="line">
            <a:avLst/>
          </a:prstGeom>
          <a:noFill/>
          <a:ln w="2222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27" name="a2_2"/>
          <p:cNvSpPr/>
          <p:nvPr/>
        </p:nvSpPr>
        <p:spPr>
          <a:xfrm>
            <a:off x="8769096" y="3360420"/>
            <a:ext cx="338328" cy="914"/>
          </a:xfrm>
          <a:prstGeom prst="line">
            <a:avLst/>
          </a:prstGeom>
          <a:noFill/>
          <a:ln w="2222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28" name="emb_box"/>
          <p:cNvSpPr/>
          <p:nvPr/>
        </p:nvSpPr>
        <p:spPr>
          <a:xfrm>
            <a:off x="3401568" y="4434840"/>
            <a:ext cx="2514600" cy="960120"/>
          </a:xfrm>
          <a:prstGeom prst="roundRect">
            <a:avLst>
              <a:gd name="adj" fmla="val 952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emb_text"/>
          <p:cNvSpPr txBox="1"/>
          <p:nvPr/>
        </p:nvSpPr>
        <p:spPr>
          <a:xfrm>
            <a:off x="3493008" y="44805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300" dirty="0">
                <a:solidFill>
                  <a:schemeClr val="bg1"/>
                </a:solidFill>
              </a:rPr>
              <a:t>rubert-tiny2: подслова и предобученные эмбеддинги</a:t>
            </a:r>
            <a:endParaRPr lang="ru-RU" sz="1300" dirty="0"/>
          </a:p>
        </p:txBody>
      </p:sp>
      <p:sp>
        <p:nvSpPr>
          <p:cNvPr id="30" name="refs_bert_box"/>
          <p:cNvSpPr/>
          <p:nvPr/>
        </p:nvSpPr>
        <p:spPr>
          <a:xfrm>
            <a:off x="6254496" y="4434840"/>
            <a:ext cx="1188720" cy="960120"/>
          </a:xfrm>
          <a:prstGeom prst="roundRect">
            <a:avLst>
              <a:gd name="adj" fmla="val 952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refs_bert_text"/>
          <p:cNvSpPr txBox="1"/>
          <p:nvPr/>
        </p:nvSpPr>
        <p:spPr>
          <a:xfrm>
            <a:off x="6345936" y="448056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200" dirty="0">
                <a:solidFill>
                  <a:schemeClr val="bg1"/>
                </a:solidFill>
              </a:rPr>
              <a:t>Ориентир:</a:t>
            </a:r>
            <a:endParaRPr lang="ru-RU" sz="1200" dirty="0"/>
          </a:p>
          <a:p>
            <a:pPr algn="ctr" indent="0" marL="0">
              <a:buNone/>
            </a:pPr>
            <a:r>
              <a:rPr lang="ru-RU" sz="1200" dirty="0">
                <a:solidFill>
                  <a:schemeClr val="bg1"/>
                </a:solidFill>
              </a:rPr>
              <a:t>rubert-tiny2</a:t>
            </a:r>
            <a:endParaRPr lang="ru-RU" sz="1200" dirty="0"/>
          </a:p>
          <a:p>
            <a:pPr algn="ctr" indent="0" marL="0">
              <a:buNone/>
            </a:pPr>
            <a:r>
              <a:rPr lang="ru-RU" sz="1200" dirty="0">
                <a:solidFill>
                  <a:schemeClr val="bg1"/>
                </a:solidFill>
              </a:rPr>
              <a:t>целиком</a:t>
            </a:r>
            <a:endParaRPr lang="ru-RU" sz="1200" dirty="0"/>
          </a:p>
        </p:txBody>
      </p:sp>
      <p:sp>
        <p:nvSpPr>
          <p:cNvPr id="32" name="refs_tfidf_box"/>
          <p:cNvSpPr/>
          <p:nvPr/>
        </p:nvSpPr>
        <p:spPr>
          <a:xfrm>
            <a:off x="7580376" y="4434840"/>
            <a:ext cx="11887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33" name="refs_tfidf_text"/>
          <p:cNvSpPr txBox="1"/>
          <p:nvPr/>
        </p:nvSpPr>
        <p:spPr>
          <a:xfrm>
            <a:off x="7671816" y="448056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200" dirty="0">
                <a:solidFill>
                  <a:schemeClr val="tx1"/>
                </a:solidFill>
              </a:rPr>
              <a:t>Ориентир:</a:t>
            </a:r>
            <a:endParaRPr lang="ru-RU" sz="1200" dirty="0"/>
          </a:p>
          <a:p>
            <a:pPr algn="ctr" indent="0" marL="0">
              <a:buNone/>
            </a:pPr>
            <a:r>
              <a:rPr lang="ru-RU" sz="1200" dirty="0">
                <a:solidFill>
                  <a:schemeClr val="tx1"/>
                </a:solidFill>
              </a:rPr>
              <a:t>TF-IDF +</a:t>
            </a:r>
            <a:endParaRPr lang="ru-RU" sz="1200" dirty="0"/>
          </a:p>
          <a:p>
            <a:pPr algn="ctr" indent="0" marL="0">
              <a:buNone/>
            </a:pPr>
            <a:r>
              <a:rPr lang="ru-RU" sz="1200" dirty="0">
                <a:solidFill>
                  <a:schemeClr val="tx1"/>
                </a:solidFill>
              </a:rPr>
              <a:t>логрег / лес</a:t>
            </a:r>
            <a:endParaRPr lang="ru-RU" sz="1200" dirty="0"/>
          </a:p>
        </p:txBody>
      </p:sp>
      <p:sp>
        <p:nvSpPr>
          <p:cNvPr id="34" name="pub_box"/>
          <p:cNvSpPr/>
          <p:nvPr/>
        </p:nvSpPr>
        <p:spPr>
          <a:xfrm>
            <a:off x="9107424" y="4434840"/>
            <a:ext cx="25146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35" name="pub_text"/>
          <p:cNvSpPr txBox="1"/>
          <p:nvPr/>
        </p:nvSpPr>
        <p:spPr>
          <a:xfrm>
            <a:off x="9198864" y="44805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Опубликованные метрики (HuggingFace)</a:t>
            </a:r>
            <a:endParaRPr lang="ru-RU" sz="1300" dirty="0"/>
          </a:p>
        </p:txBody>
      </p:sp>
      <p:sp>
        <p:nvSpPr>
          <p:cNvPr id="36" name="a3_emb"/>
          <p:cNvSpPr/>
          <p:nvPr/>
        </p:nvSpPr>
        <p:spPr>
          <a:xfrm flipV="1">
            <a:off x="4658868" y="3840480"/>
            <a:ext cx="914" cy="594360"/>
          </a:xfrm>
          <a:prstGeom prst="line">
            <a:avLst/>
          </a:prstGeom>
          <a:noFill/>
          <a:ln w="2222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37" name="a3_refs_bert"/>
          <p:cNvSpPr/>
          <p:nvPr/>
        </p:nvSpPr>
        <p:spPr>
          <a:xfrm flipV="1">
            <a:off x="6848856" y="3840480"/>
            <a:ext cx="914" cy="594360"/>
          </a:xfrm>
          <a:prstGeom prst="line">
            <a:avLst/>
          </a:prstGeom>
          <a:noFill/>
          <a:ln w="2222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38" name="a3_refs_tfidf"/>
          <p:cNvSpPr/>
          <p:nvPr/>
        </p:nvSpPr>
        <p:spPr>
          <a:xfrm flipV="1">
            <a:off x="8174736" y="3840480"/>
            <a:ext cx="914" cy="594360"/>
          </a:xfrm>
          <a:prstGeom prst="line">
            <a:avLst/>
          </a:prstGeom>
          <a:noFill/>
          <a:ln w="2222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39" name="a3_pub"/>
          <p:cNvSpPr/>
          <p:nvPr/>
        </p:nvSpPr>
        <p:spPr>
          <a:xfrm flipV="1">
            <a:off x="10364724" y="3840480"/>
            <a:ext cx="914" cy="594360"/>
          </a:xfrm>
          <a:prstGeom prst="line">
            <a:avLst/>
          </a:prstGeom>
          <a:noFill/>
          <a:ln w="22225">
            <a:solidFill>
              <a:srgbClr val="6B7785"/>
            </a:solidFill>
            <a:prstDash val="dash"/>
            <a:tailEnd type="triangle"/>
          </a:ln>
        </p:spPr>
      </p:sp>
      <p:sp>
        <p:nvSpPr>
          <p:cNvPr id="40" name="legend_box"/>
          <p:cNvSpPr/>
          <p:nvPr/>
        </p:nvSpPr>
        <p:spPr>
          <a:xfrm>
            <a:off x="548640" y="4434840"/>
            <a:ext cx="2514600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41" name="legend_swatch"/>
          <p:cNvSpPr/>
          <p:nvPr/>
        </p:nvSpPr>
        <p:spPr>
          <a:xfrm>
            <a:off x="731520" y="4736592"/>
            <a:ext cx="45720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2" name="legend_text"/>
          <p:cNvSpPr txBox="1"/>
          <p:nvPr/>
        </p:nvSpPr>
        <p:spPr>
          <a:xfrm>
            <a:off x="1280160" y="45262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— здесь работают нейросети</a:t>
            </a:r>
            <a:endParaRPr lang="ru-RU" sz="1300" dirty="0"/>
          </a:p>
        </p:txBody>
      </p:sp>
      <p:sp>
        <p:nvSpPr>
          <p:cNvPr id="43" name="flow_note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ru-RU" sz="1400" i="1" dirty="0">
                <a:solidFill>
                  <a:schemeClr val="accent4"/>
                </a:solidFill>
              </a:rPr>
              <a:t>Тетрадка project_rusentiment_rnn.ipynb ставит эксперименты; загрузка, батчи, модель, обучение и журнал запусков — в модуле project_lib.py</a:t>
            </a:r>
            <a:endParaRPr lang="ru-RU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ru-RU"/>
              <a:t>4</a:t>
            </a:fld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ru-RU" sz="3000" b="1" dirty="0">
                <a:solidFill>
                  <a:schemeClr val="tx2"/>
                </a:solidFill>
              </a:rPr>
              <a:t>Архитектура итоговой сети</a:t>
            </a:r>
            <a:endParaRPr lang="ru-RU" sz="3000" dirty="0"/>
          </a:p>
        </p:txBody>
      </p:sp>
      <p:sp>
        <p:nvSpPr>
          <p:cNvPr id="3" name="arch0_box"/>
          <p:cNvSpPr/>
          <p:nvPr/>
        </p:nvSpPr>
        <p:spPr>
          <a:xfrm>
            <a:off x="548640" y="1508760"/>
            <a:ext cx="1664208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4" name="arch0_text"/>
          <p:cNvSpPr txBox="1"/>
          <p:nvPr/>
        </p:nvSpPr>
        <p:spPr>
          <a:xfrm>
            <a:off x="640080" y="1554480"/>
            <a:ext cx="1481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400" dirty="0">
                <a:solidFill>
                  <a:schemeClr val="tx1"/>
                </a:solidFill>
              </a:rPr>
              <a:t>Текст отзыва</a:t>
            </a:r>
            <a:endParaRPr lang="ru-RU" sz="1400" dirty="0"/>
          </a:p>
        </p:txBody>
      </p:sp>
      <p:sp>
        <p:nvSpPr>
          <p:cNvPr id="5" name="arch_a0"/>
          <p:cNvSpPr/>
          <p:nvPr/>
        </p:nvSpPr>
        <p:spPr>
          <a:xfrm>
            <a:off x="2212848" y="2240280"/>
            <a:ext cx="215798" cy="914"/>
          </a:xfrm>
          <a:prstGeom prst="line">
            <a:avLst/>
          </a:prstGeom>
          <a:noFill/>
          <a:ln w="2222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6" name="arch1_box"/>
          <p:cNvSpPr/>
          <p:nvPr/>
        </p:nvSpPr>
        <p:spPr>
          <a:xfrm>
            <a:off x="2428646" y="1508760"/>
            <a:ext cx="1664208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7" name="arch1_text"/>
          <p:cNvSpPr txBox="1"/>
          <p:nvPr/>
        </p:nvSpPr>
        <p:spPr>
          <a:xfrm>
            <a:off x="2520086" y="1554480"/>
            <a:ext cx="1481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400" dirty="0">
                <a:solidFill>
                  <a:schemeClr val="tx1"/>
                </a:solidFill>
              </a:rPr>
              <a:t>Подслова rubert-tiny2, до 320 токенов</a:t>
            </a:r>
            <a:endParaRPr lang="ru-RU" sz="1400" dirty="0"/>
          </a:p>
        </p:txBody>
      </p:sp>
      <p:sp>
        <p:nvSpPr>
          <p:cNvPr id="8" name="arch_a1"/>
          <p:cNvSpPr/>
          <p:nvPr/>
        </p:nvSpPr>
        <p:spPr>
          <a:xfrm>
            <a:off x="4092854" y="2240280"/>
            <a:ext cx="215798" cy="914"/>
          </a:xfrm>
          <a:prstGeom prst="line">
            <a:avLst/>
          </a:prstGeom>
          <a:noFill/>
          <a:ln w="2222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9" name="arch2_box"/>
          <p:cNvSpPr/>
          <p:nvPr/>
        </p:nvSpPr>
        <p:spPr>
          <a:xfrm>
            <a:off x="4308653" y="1508760"/>
            <a:ext cx="1664208" cy="146304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arch2_text"/>
          <p:cNvSpPr txBox="1"/>
          <p:nvPr/>
        </p:nvSpPr>
        <p:spPr>
          <a:xfrm>
            <a:off x="4400093" y="1554480"/>
            <a:ext cx="1481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400" dirty="0">
                <a:solidFill>
                  <a:schemeClr val="bg1"/>
                </a:solidFill>
              </a:rPr>
              <a:t>Эмбеддинги 312, предобученные, дообучаются</a:t>
            </a:r>
            <a:endParaRPr lang="ru-RU" sz="1400" dirty="0"/>
          </a:p>
        </p:txBody>
      </p:sp>
      <p:sp>
        <p:nvSpPr>
          <p:cNvPr id="11" name="arch_a2"/>
          <p:cNvSpPr/>
          <p:nvPr/>
        </p:nvSpPr>
        <p:spPr>
          <a:xfrm>
            <a:off x="5972861" y="2240280"/>
            <a:ext cx="215798" cy="914"/>
          </a:xfrm>
          <a:prstGeom prst="line">
            <a:avLst/>
          </a:prstGeom>
          <a:noFill/>
          <a:ln w="2222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12" name="arch3_box"/>
          <p:cNvSpPr/>
          <p:nvPr/>
        </p:nvSpPr>
        <p:spPr>
          <a:xfrm>
            <a:off x="6188659" y="1508760"/>
            <a:ext cx="1664208" cy="146304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arch3_text"/>
          <p:cNvSpPr txBox="1"/>
          <p:nvPr/>
        </p:nvSpPr>
        <p:spPr>
          <a:xfrm>
            <a:off x="6280099" y="1554480"/>
            <a:ext cx="1481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400" dirty="0">
                <a:solidFill>
                  <a:schemeClr val="bg1"/>
                </a:solidFill>
              </a:rPr>
              <a:t>BiLSTM, h = 128: прямой и обратный проход</a:t>
            </a:r>
            <a:endParaRPr lang="ru-RU" sz="1400" dirty="0"/>
          </a:p>
        </p:txBody>
      </p:sp>
      <p:sp>
        <p:nvSpPr>
          <p:cNvPr id="14" name="arch_a3"/>
          <p:cNvSpPr/>
          <p:nvPr/>
        </p:nvSpPr>
        <p:spPr>
          <a:xfrm>
            <a:off x="7852867" y="2240280"/>
            <a:ext cx="215798" cy="914"/>
          </a:xfrm>
          <a:prstGeom prst="line">
            <a:avLst/>
          </a:prstGeom>
          <a:noFill/>
          <a:ln w="2222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15" name="arch4_box"/>
          <p:cNvSpPr/>
          <p:nvPr/>
        </p:nvSpPr>
        <p:spPr>
          <a:xfrm>
            <a:off x="8068666" y="1508760"/>
            <a:ext cx="1664208" cy="146304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arch4_text"/>
          <p:cNvSpPr txBox="1"/>
          <p:nvPr/>
        </p:nvSpPr>
        <p:spPr>
          <a:xfrm>
            <a:off x="8160106" y="1554480"/>
            <a:ext cx="1481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400" dirty="0">
                <a:solidFill>
                  <a:schemeClr val="bg1"/>
                </a:solidFill>
              </a:rPr>
              <a:t>Последние состояния двух направлений, 256</a:t>
            </a:r>
            <a:endParaRPr lang="ru-RU" sz="1400" dirty="0"/>
          </a:p>
        </p:txBody>
      </p:sp>
      <p:sp>
        <p:nvSpPr>
          <p:cNvPr id="17" name="arch_a4"/>
          <p:cNvSpPr/>
          <p:nvPr/>
        </p:nvSpPr>
        <p:spPr>
          <a:xfrm>
            <a:off x="9732874" y="2240280"/>
            <a:ext cx="215798" cy="914"/>
          </a:xfrm>
          <a:prstGeom prst="line">
            <a:avLst/>
          </a:prstGeom>
          <a:noFill/>
          <a:ln w="2222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18" name="arch5_box"/>
          <p:cNvSpPr/>
          <p:nvPr/>
        </p:nvSpPr>
        <p:spPr>
          <a:xfrm>
            <a:off x="9948672" y="1508760"/>
            <a:ext cx="1664208" cy="146304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arch5_text"/>
          <p:cNvSpPr txBox="1"/>
          <p:nvPr/>
        </p:nvSpPr>
        <p:spPr>
          <a:xfrm>
            <a:off x="10040112" y="1554480"/>
            <a:ext cx="1481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400" dirty="0">
                <a:solidFill>
                  <a:schemeClr val="bg1"/>
                </a:solidFill>
              </a:rPr>
              <a:t>Линейный слой → 3 класса</a:t>
            </a:r>
            <a:endParaRPr lang="ru-RU" sz="1400" dirty="0"/>
          </a:p>
        </p:txBody>
      </p:sp>
      <p:sp>
        <p:nvSpPr>
          <p:cNvPr id="20" name="do1"/>
          <p:cNvSpPr txBox="1"/>
          <p:nvPr/>
        </p:nvSpPr>
        <p:spPr>
          <a:xfrm>
            <a:off x="4308653" y="301752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200" i="1" dirty="0">
                <a:solidFill>
                  <a:schemeClr val="accent4"/>
                </a:solidFill>
              </a:rPr>
              <a:t>dropout 0,3</a:t>
            </a:r>
            <a:endParaRPr lang="ru-RU" sz="1200" dirty="0"/>
          </a:p>
        </p:txBody>
      </p:sp>
      <p:sp>
        <p:nvSpPr>
          <p:cNvPr id="21" name="do2"/>
          <p:cNvSpPr txBox="1"/>
          <p:nvPr/>
        </p:nvSpPr>
        <p:spPr>
          <a:xfrm>
            <a:off x="8068666" y="301752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200" i="1" dirty="0">
                <a:solidFill>
                  <a:schemeClr val="accent4"/>
                </a:solidFill>
              </a:rPr>
              <a:t>dropout 0,3</a:t>
            </a:r>
            <a:endParaRPr lang="ru-RU" sz="1200" dirty="0"/>
          </a:p>
        </p:txBody>
      </p:sp>
      <p:sp>
        <p:nvSpPr>
          <p:cNvPr id="22" name="params_card"/>
          <p:cNvSpPr/>
          <p:nvPr/>
        </p:nvSpPr>
        <p:spPr>
          <a:xfrm>
            <a:off x="548640" y="384048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params_value"/>
          <p:cNvSpPr txBox="1"/>
          <p:nvPr/>
        </p:nvSpPr>
        <p:spPr>
          <a:xfrm>
            <a:off x="713232" y="3931920"/>
            <a:ext cx="3191256" cy="10936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ru-RU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20,6 млн</a:t>
            </a:r>
            <a:endParaRPr lang="ru-RU" sz="2800" dirty="0"/>
          </a:p>
        </p:txBody>
      </p:sp>
      <p:sp>
        <p:nvSpPr>
          <p:cNvPr id="24" name="params_label"/>
          <p:cNvSpPr txBox="1"/>
          <p:nvPr/>
        </p:nvSpPr>
        <p:spPr>
          <a:xfrm>
            <a:off x="713232" y="5102352"/>
            <a:ext cx="3191256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параметров; 20,2 млн из них — эмбеддинги 64 726 подслов</a:t>
            </a:r>
            <a:endParaRPr lang="ru-RU" sz="1300" dirty="0"/>
          </a:p>
        </p:txBody>
      </p:sp>
      <p:sp>
        <p:nvSpPr>
          <p:cNvPr id="25" name="packing_card"/>
          <p:cNvSpPr/>
          <p:nvPr/>
        </p:nvSpPr>
        <p:spPr>
          <a:xfrm>
            <a:off x="4315968" y="384048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packing_value"/>
          <p:cNvSpPr txBox="1"/>
          <p:nvPr/>
        </p:nvSpPr>
        <p:spPr>
          <a:xfrm>
            <a:off x="4480560" y="3931920"/>
            <a:ext cx="3191256" cy="10936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ru-RU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упаковка</a:t>
            </a:r>
            <a:endParaRPr lang="ru-RU" sz="2600" dirty="0"/>
          </a:p>
        </p:txBody>
      </p:sp>
      <p:sp>
        <p:nvSpPr>
          <p:cNvPr id="27" name="packing_label"/>
          <p:cNvSpPr txBox="1"/>
          <p:nvPr/>
        </p:nvSpPr>
        <p:spPr>
          <a:xfrm>
            <a:off x="4480560" y="5102352"/>
            <a:ext cx="3191256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последовательностей: состояние берётся после последнего настоящего токена, а не после нулей</a:t>
            </a:r>
            <a:endParaRPr lang="ru-RU" sz="1300" dirty="0"/>
          </a:p>
        </p:txBody>
      </p:sp>
      <p:sp>
        <p:nvSpPr>
          <p:cNvPr id="28" name="init_card"/>
          <p:cNvSpPr/>
          <p:nvPr/>
        </p:nvSpPr>
        <p:spPr>
          <a:xfrm>
            <a:off x="8092440" y="384048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init_value"/>
          <p:cNvSpPr txBox="1"/>
          <p:nvPr/>
        </p:nvSpPr>
        <p:spPr>
          <a:xfrm>
            <a:off x="8257032" y="3931920"/>
            <a:ext cx="3191256" cy="10936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ru-RU" sz="2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инициализация</a:t>
            </a:r>
            <a:endParaRPr lang="ru-RU" sz="2600" dirty="0"/>
          </a:p>
        </p:txBody>
      </p:sp>
      <p:sp>
        <p:nvSpPr>
          <p:cNvPr id="30" name="init_label"/>
          <p:cNvSpPr txBox="1"/>
          <p:nvPr/>
        </p:nvSpPr>
        <p:spPr>
          <a:xfrm>
            <a:off x="8257032" y="5102352"/>
            <a:ext cx="3191256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ортогональные рекуррентные матрицы, смещение забывающего вентиля LSTM = 1</a:t>
            </a:r>
            <a:endParaRPr lang="ru-RU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ru-RU"/>
              <a:t>5</a:t>
            </a:fld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ru-RU" sz="3000" b="1" dirty="0">
                <a:solidFill>
                  <a:schemeClr val="tx2"/>
                </a:solidFill>
              </a:rPr>
              <a:t>Инструментарий</a:t>
            </a:r>
            <a:endParaRPr lang="ru-RU" sz="3000" dirty="0"/>
          </a:p>
        </p:txBody>
      </p:sp>
      <p:sp>
        <p:nvSpPr>
          <p:cNvPr id="3" name="tool0_card"/>
          <p:cNvSpPr/>
          <p:nvPr/>
        </p:nvSpPr>
        <p:spPr>
          <a:xfrm>
            <a:off x="548640" y="1371600"/>
            <a:ext cx="34290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ool0_head"/>
          <p:cNvSpPr txBox="1"/>
          <p:nvPr/>
        </p:nvSpPr>
        <p:spPr>
          <a:xfrm>
            <a:off x="731520" y="15087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700" b="1" dirty="0">
                <a:solidFill>
                  <a:schemeClr val="tx2"/>
                </a:solidFill>
              </a:rPr>
              <a:t>Python 3.13.7</a:t>
            </a:r>
            <a:endParaRPr lang="ru-RU" sz="1700" dirty="0"/>
          </a:p>
        </p:txBody>
      </p:sp>
      <p:sp>
        <p:nvSpPr>
          <p:cNvPr id="5" name="tool0_desc"/>
          <p:cNvSpPr txBox="1"/>
          <p:nvPr/>
        </p:nvSpPr>
        <p:spPr>
          <a:xfrm>
            <a:off x="731520" y="202996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язык, Jupyter-тетрадка + модуль project_lib.py</a:t>
            </a:r>
            <a:endParaRPr lang="ru-RU" sz="1300" dirty="0"/>
          </a:p>
        </p:txBody>
      </p:sp>
      <p:sp>
        <p:nvSpPr>
          <p:cNvPr id="6" name="tool1_card"/>
          <p:cNvSpPr/>
          <p:nvPr/>
        </p:nvSpPr>
        <p:spPr>
          <a:xfrm>
            <a:off x="4160520" y="1371600"/>
            <a:ext cx="34290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ool1_head"/>
          <p:cNvSpPr txBox="1"/>
          <p:nvPr/>
        </p:nvSpPr>
        <p:spPr>
          <a:xfrm>
            <a:off x="4343400" y="15087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700" b="1" dirty="0">
                <a:solidFill>
                  <a:schemeClr val="tx2"/>
                </a:solidFill>
              </a:rPr>
              <a:t>PyTorch 2.14.1</a:t>
            </a:r>
            <a:endParaRPr lang="ru-RU" sz="1700" dirty="0"/>
          </a:p>
        </p:txBody>
      </p:sp>
      <p:sp>
        <p:nvSpPr>
          <p:cNvPr id="8" name="tool1_desc"/>
          <p:cNvSpPr txBox="1"/>
          <p:nvPr/>
        </p:nvSpPr>
        <p:spPr>
          <a:xfrm>
            <a:off x="4343400" y="202996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RNN / LSTM / GRU, обучение на GPU Mac (MPS)</a:t>
            </a:r>
            <a:endParaRPr lang="ru-RU" sz="1300" dirty="0"/>
          </a:p>
        </p:txBody>
      </p:sp>
      <p:sp>
        <p:nvSpPr>
          <p:cNvPr id="9" name="tool2_card"/>
          <p:cNvSpPr/>
          <p:nvPr/>
        </p:nvSpPr>
        <p:spPr>
          <a:xfrm>
            <a:off x="548640" y="2971800"/>
            <a:ext cx="34290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ool2_head"/>
          <p:cNvSpPr txBox="1"/>
          <p:nvPr/>
        </p:nvSpPr>
        <p:spPr>
          <a:xfrm>
            <a:off x="731520" y="3108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700" b="1" dirty="0">
                <a:solidFill>
                  <a:schemeClr val="tx2"/>
                </a:solidFill>
              </a:rPr>
              <a:t>transformers 5.19, datasets 5.1</a:t>
            </a:r>
            <a:endParaRPr lang="ru-RU" sz="1700" dirty="0"/>
          </a:p>
        </p:txBody>
      </p:sp>
      <p:sp>
        <p:nvSpPr>
          <p:cNvPr id="11" name="tool2_desc"/>
          <p:cNvSpPr txBox="1"/>
          <p:nvPr/>
        </p:nvSpPr>
        <p:spPr>
          <a:xfrm>
            <a:off x="731520" y="363016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набор данных и rubert-tiny2 с HuggingFace</a:t>
            </a:r>
            <a:endParaRPr lang="ru-RU" sz="1300" dirty="0"/>
          </a:p>
        </p:txBody>
      </p:sp>
      <p:sp>
        <p:nvSpPr>
          <p:cNvPr id="12" name="tool3_card"/>
          <p:cNvSpPr/>
          <p:nvPr/>
        </p:nvSpPr>
        <p:spPr>
          <a:xfrm>
            <a:off x="4160520" y="2971800"/>
            <a:ext cx="34290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ool3_head"/>
          <p:cNvSpPr txBox="1"/>
          <p:nvPr/>
        </p:nvSpPr>
        <p:spPr>
          <a:xfrm>
            <a:off x="4343400" y="3108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700" b="1" dirty="0">
                <a:solidFill>
                  <a:schemeClr val="tx2"/>
                </a:solidFill>
              </a:rPr>
              <a:t>scikit-learn 1.9.1</a:t>
            </a:r>
            <a:endParaRPr lang="ru-RU" sz="1700" dirty="0"/>
          </a:p>
        </p:txBody>
      </p:sp>
      <p:sp>
        <p:nvSpPr>
          <p:cNvPr id="14" name="tool3_desc"/>
          <p:cNvSpPr txBox="1"/>
          <p:nvPr/>
        </p:nvSpPr>
        <p:spPr>
          <a:xfrm>
            <a:off x="4343400" y="363016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TF-IDF, логистическая регрессия, лес, метрики, t-SNE</a:t>
            </a:r>
            <a:endParaRPr lang="ru-RU" sz="1300" dirty="0"/>
          </a:p>
        </p:txBody>
      </p:sp>
      <p:sp>
        <p:nvSpPr>
          <p:cNvPr id="15" name="tool4_card"/>
          <p:cNvSpPr/>
          <p:nvPr/>
        </p:nvSpPr>
        <p:spPr>
          <a:xfrm>
            <a:off x="548640" y="4572000"/>
            <a:ext cx="34290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ool4_head"/>
          <p:cNvSpPr txBox="1"/>
          <p:nvPr/>
        </p:nvSpPr>
        <p:spPr>
          <a:xfrm>
            <a:off x="731520" y="4709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700" b="1" dirty="0">
                <a:solidFill>
                  <a:schemeClr val="tx2"/>
                </a:solidFill>
              </a:rPr>
              <a:t>pandas 3.0.6, numpy 2.3.5</a:t>
            </a:r>
            <a:endParaRPr lang="ru-RU" sz="1700" dirty="0"/>
          </a:p>
        </p:txBody>
      </p:sp>
      <p:sp>
        <p:nvSpPr>
          <p:cNvPr id="17" name="tool4_desc"/>
          <p:cNvSpPr txBox="1"/>
          <p:nvPr/>
        </p:nvSpPr>
        <p:spPr>
          <a:xfrm>
            <a:off x="731520" y="523036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подготовка данных, таблицы результатов</a:t>
            </a:r>
            <a:endParaRPr lang="ru-RU" sz="1300" dirty="0"/>
          </a:p>
        </p:txBody>
      </p:sp>
      <p:sp>
        <p:nvSpPr>
          <p:cNvPr id="18" name="tool5_card"/>
          <p:cNvSpPr/>
          <p:nvPr/>
        </p:nvSpPr>
        <p:spPr>
          <a:xfrm>
            <a:off x="4160520" y="4572000"/>
            <a:ext cx="34290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ool5_head"/>
          <p:cNvSpPr txBox="1"/>
          <p:nvPr/>
        </p:nvSpPr>
        <p:spPr>
          <a:xfrm>
            <a:off x="4343400" y="4709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700" b="1" dirty="0">
                <a:solidFill>
                  <a:schemeClr val="tx2"/>
                </a:solidFill>
              </a:rPr>
              <a:t>matplotlib 3.11, seaborn 0.13</a:t>
            </a:r>
            <a:endParaRPr lang="ru-RU" sz="1700" dirty="0"/>
          </a:p>
        </p:txBody>
      </p:sp>
      <p:sp>
        <p:nvSpPr>
          <p:cNvPr id="20" name="tool5_desc"/>
          <p:cNvSpPr txBox="1"/>
          <p:nvPr/>
        </p:nvSpPr>
        <p:spPr>
          <a:xfrm>
            <a:off x="4343400" y="523036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все графики проекта (figures/)</a:t>
            </a:r>
            <a:endParaRPr lang="ru-RU" sz="1300" dirty="0"/>
          </a:p>
        </p:txBody>
      </p:sp>
      <p:sp>
        <p:nvSpPr>
          <p:cNvPr id="21" name="total_card"/>
          <p:cNvSpPr/>
          <p:nvPr/>
        </p:nvSpPr>
        <p:spPr>
          <a:xfrm>
            <a:off x="7955280" y="1371600"/>
            <a:ext cx="36576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otal_value"/>
          <p:cNvSpPr txBox="1"/>
          <p:nvPr/>
        </p:nvSpPr>
        <p:spPr>
          <a:xfrm>
            <a:off x="8119872" y="1463040"/>
            <a:ext cx="3328416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ru-RU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124 мин</a:t>
            </a:r>
            <a:endParaRPr lang="ru-RU" sz="2800" dirty="0"/>
          </a:p>
        </p:txBody>
      </p:sp>
      <p:sp>
        <p:nvSpPr>
          <p:cNvPr id="23" name="total_label"/>
          <p:cNvSpPr txBox="1"/>
          <p:nvPr/>
        </p:nvSpPr>
        <p:spPr>
          <a:xfrm>
            <a:off x="8119872" y="2221992"/>
            <a:ext cx="3328416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полный расчёт на Mac с Apple Silicon: 26 обучений сетей + базовые модели</a:t>
            </a:r>
            <a:endParaRPr lang="ru-RU" sz="1300" dirty="0"/>
          </a:p>
        </p:txBody>
      </p:sp>
      <p:sp>
        <p:nvSpPr>
          <p:cNvPr id="24" name="step_card"/>
          <p:cNvSpPr/>
          <p:nvPr/>
        </p:nvSpPr>
        <p:spPr>
          <a:xfrm>
            <a:off x="7955280" y="2971800"/>
            <a:ext cx="36576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tep_value"/>
          <p:cNvSpPr txBox="1"/>
          <p:nvPr/>
        </p:nvSpPr>
        <p:spPr>
          <a:xfrm>
            <a:off x="8119872" y="3063240"/>
            <a:ext cx="3328416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ru-RU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0,116 с</a:t>
            </a:r>
            <a:endParaRPr lang="ru-RU" sz="2800" dirty="0"/>
          </a:p>
        </p:txBody>
      </p:sp>
      <p:sp>
        <p:nvSpPr>
          <p:cNvPr id="26" name="step_label"/>
          <p:cNvSpPr txBox="1"/>
          <p:nvPr/>
        </p:nvSpPr>
        <p:spPr>
          <a:xfrm>
            <a:off x="8119872" y="3822192"/>
            <a:ext cx="3328416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шаг обучения BiLSTM на MPS против 0,158 с на CPU (батч 128, длина 100)</a:t>
            </a:r>
            <a:endParaRPr lang="ru-RU" sz="1300" dirty="0"/>
          </a:p>
        </p:txBody>
      </p:sp>
      <p:sp>
        <p:nvSpPr>
          <p:cNvPr id="27" name="check_card"/>
          <p:cNvSpPr/>
          <p:nvPr/>
        </p:nvSpPr>
        <p:spPr>
          <a:xfrm>
            <a:off x="7955280" y="4572000"/>
            <a:ext cx="36576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check_value"/>
          <p:cNvSpPr txBox="1"/>
          <p:nvPr/>
        </p:nvSpPr>
        <p:spPr>
          <a:xfrm>
            <a:off x="8119872" y="4663440"/>
            <a:ext cx="3328416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ru-RU" sz="2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2,4·10⁻⁷</a:t>
            </a:r>
            <a:endParaRPr lang="ru-RU" sz="2600" dirty="0"/>
          </a:p>
        </p:txBody>
      </p:sp>
      <p:sp>
        <p:nvSpPr>
          <p:cNvPr id="29" name="check_label"/>
          <p:cNvSpPr txBox="1"/>
          <p:nvPr/>
        </p:nvSpPr>
        <p:spPr>
          <a:xfrm>
            <a:off x="8119872" y="5422392"/>
            <a:ext cx="3328416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максимальное расхождение RNN на MPS и CPU — проверка перед обучением</a:t>
            </a:r>
            <a:endParaRPr lang="ru-RU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ru-RU"/>
              <a:t>6</a:t>
            </a:fld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ru-RU" sz="3000" b="1" dirty="0">
                <a:solidFill>
                  <a:schemeClr val="tx2"/>
                </a:solidFill>
              </a:rPr>
              <a:t>Данные: подготовка и разбиение</a:t>
            </a:r>
            <a:endParaRPr lang="ru-RU" sz="3000" dirty="0"/>
          </a:p>
        </p:txBody>
      </p:sp>
      <p:pic>
        <p:nvPicPr>
          <p:cNvPr id="3" name="eda_lengths" descr="/home/claude/work/nn/project_exec/figures/eda_length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949440" cy="2430124"/>
          </a:xfrm>
          <a:prstGeom prst="rect">
            <a:avLst/>
          </a:prstGeom>
        </p:spPr>
      </p:pic>
      <p:sp>
        <p:nvSpPr>
          <p:cNvPr id="4" name="data_text"/>
          <p:cNvSpPr txBox="1"/>
          <p:nvPr/>
        </p:nvSpPr>
        <p:spPr>
          <a:xfrm>
            <a:off x="548640" y="4030324"/>
            <a:ext cx="6949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ru-RU" sz="1500" dirty="0">
                <a:solidFill>
                  <a:schemeClr val="tx1"/>
                </a:solidFill>
              </a:rPr>
              <a:t>Все 48 212 строк найдены в MonoHime/ru_sentiment_dataset (сплит train): совпали тексты и метки</a:t>
            </a:r>
            <a:endParaRPr lang="ru-RU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ru-RU" sz="1500" dirty="0">
                <a:solidFill>
                  <a:schemeClr val="tx1"/>
                </a:solidFill>
              </a:rPr>
              <a:t>Повторы удалены до разбиения: 369 лишних копий и 288 групп с противоречивыми метками</a:t>
            </a:r>
            <a:endParaRPr lang="ru-RU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ru-RU" sz="1500" dirty="0">
                <a:solidFill>
                  <a:schemeClr val="tx1"/>
                </a:solidFill>
              </a:rPr>
              <a:t>Медиана длины — 75 токенов, обрезка до 256 затрагивает 7,4 % текстов</a:t>
            </a:r>
            <a:endParaRPr lang="ru-RU" sz="1500" dirty="0"/>
          </a:p>
        </p:txBody>
      </p:sp>
      <p:sp>
        <p:nvSpPr>
          <p:cNvPr id="5" name="clean_n_card"/>
          <p:cNvSpPr/>
          <p:nvPr/>
        </p:nvSpPr>
        <p:spPr>
          <a:xfrm>
            <a:off x="7863840" y="1371600"/>
            <a:ext cx="3749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lean_n_value"/>
          <p:cNvSpPr txBox="1"/>
          <p:nvPr/>
        </p:nvSpPr>
        <p:spPr>
          <a:xfrm>
            <a:off x="8028432" y="1463040"/>
            <a:ext cx="3419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ru-RU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47 228</a:t>
            </a:r>
            <a:endParaRPr lang="ru-RU" sz="2800" dirty="0"/>
          </a:p>
        </p:txBody>
      </p:sp>
      <p:sp>
        <p:nvSpPr>
          <p:cNvPr id="7" name="clean_n_label"/>
          <p:cNvSpPr txBox="1"/>
          <p:nvPr/>
        </p:nvSpPr>
        <p:spPr>
          <a:xfrm>
            <a:off x="8028432" y="2194560"/>
            <a:ext cx="3419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текстов после очистки (−984)</a:t>
            </a:r>
            <a:endParaRPr lang="ru-RU" sz="1300" dirty="0"/>
          </a:p>
        </p:txBody>
      </p:sp>
      <p:sp>
        <p:nvSpPr>
          <p:cNvPr id="8" name="split_n_card"/>
          <p:cNvSpPr/>
          <p:nvPr/>
        </p:nvSpPr>
        <p:spPr>
          <a:xfrm>
            <a:off x="7863840" y="2926080"/>
            <a:ext cx="3749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plit_n_value"/>
          <p:cNvSpPr txBox="1"/>
          <p:nvPr/>
        </p:nvSpPr>
        <p:spPr>
          <a:xfrm>
            <a:off x="8028432" y="3017520"/>
            <a:ext cx="3419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ru-RU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37 782 / 4 723 / 4 723</a:t>
            </a:r>
            <a:endParaRPr lang="ru-RU" sz="2200" dirty="0"/>
          </a:p>
        </p:txBody>
      </p:sp>
      <p:sp>
        <p:nvSpPr>
          <p:cNvPr id="10" name="split_n_label"/>
          <p:cNvSpPr txBox="1"/>
          <p:nvPr/>
        </p:nvSpPr>
        <p:spPr>
          <a:xfrm>
            <a:off x="8028432" y="3749040"/>
            <a:ext cx="3419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train / val / test, классы сбалансированы</a:t>
            </a:r>
            <a:endParaRPr lang="ru-RU" sz="1300" dirty="0"/>
          </a:p>
        </p:txBody>
      </p:sp>
      <p:sp>
        <p:nvSpPr>
          <p:cNvPr id="11" name="vocab_n_card"/>
          <p:cNvSpPr/>
          <p:nvPr/>
        </p:nvSpPr>
        <p:spPr>
          <a:xfrm>
            <a:off x="7863840" y="4480560"/>
            <a:ext cx="3749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vocab_n_value"/>
          <p:cNvSpPr txBox="1"/>
          <p:nvPr/>
        </p:nvSpPr>
        <p:spPr>
          <a:xfrm>
            <a:off x="8028432" y="4572000"/>
            <a:ext cx="3419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ru-RU" sz="2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50 000 слов</a:t>
            </a:r>
            <a:endParaRPr lang="ru-RU" sz="2600" dirty="0"/>
          </a:p>
        </p:txBody>
      </p:sp>
      <p:sp>
        <p:nvSpPr>
          <p:cNvPr id="13" name="vocab_n_label"/>
          <p:cNvSpPr txBox="1"/>
          <p:nvPr/>
        </p:nvSpPr>
        <p:spPr>
          <a:xfrm>
            <a:off x="8028432" y="5303520"/>
            <a:ext cx="3419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словарь по train; неизвестных в val — 6,4 %</a:t>
            </a:r>
            <a:endParaRPr lang="ru-RU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ru-RU"/>
              <a:t>7</a:t>
            </a:fld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ru-RU" sz="3000" b="1" dirty="0">
                <a:solidFill>
                  <a:schemeClr val="tx2"/>
                </a:solidFill>
              </a:rPr>
              <a:t>Протокол обучения и порядок экспериментов</a:t>
            </a:r>
            <a:endParaRPr lang="ru-RU" sz="3000" dirty="0"/>
          </a:p>
        </p:txBody>
      </p:sp>
      <p:sp>
        <p:nvSpPr>
          <p:cNvPr id="3" name="protocol"/>
          <p:cNvSpPr txBox="1"/>
          <p:nvPr/>
        </p:nvSpPr>
        <p:spPr>
          <a:xfrm>
            <a:off x="548640" y="1371600"/>
            <a:ext cx="58521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ru-RU" sz="1600" b="1" dirty="0">
                <a:solidFill>
                  <a:schemeClr val="tx1"/>
                </a:solidFill>
              </a:rPr>
              <a:t>Функция потерь: </a:t>
            </a:r>
            <a:pPr indent="0" marL="0">
              <a:spcAft>
                <a:spcPts val="900"/>
              </a:spcAft>
              <a:buNone/>
            </a:pPr>
            <a:r>
              <a:rPr lang="ru-RU" sz="1600" dirty="0">
                <a:solidFill>
                  <a:schemeClr val="tx1"/>
                </a:solidFill>
              </a:rPr>
              <a:t>кросс-энтропия; батч 128 из текстов похожей длины; до 8 эпох</a:t>
            </a:r>
            <a:endParaRPr lang="ru-RU" sz="1600" dirty="0"/>
          </a:p>
          <a:p>
            <a:pPr marL="342900" indent="-342900">
              <a:buSzPct val="100000"/>
              <a:buChar char="•"/>
            </a:pPr>
            <a:r>
              <a:rPr lang="ru-RU" sz="1600" b="1" dirty="0">
                <a:solidFill>
                  <a:schemeClr val="tx1"/>
                </a:solidFill>
              </a:rPr>
              <a:t>Ранняя остановка: </a:t>
            </a:r>
            <a:pPr indent="0" marL="0">
              <a:spcAft>
                <a:spcPts val="900"/>
              </a:spcAft>
              <a:buNone/>
            </a:pPr>
            <a:r>
              <a:rPr lang="ru-RU" sz="1600" dirty="0">
                <a:solidFill>
                  <a:schemeClr val="tx1"/>
                </a:solidFill>
              </a:rPr>
              <a:t>2 эпохи без роста val macro-F1, затем возврат лучших весов</a:t>
            </a:r>
            <a:endParaRPr lang="ru-RU" sz="1600" dirty="0"/>
          </a:p>
          <a:p>
            <a:pPr marL="342900" indent="-342900">
              <a:buSzPct val="100000"/>
              <a:buChar char="•"/>
            </a:pPr>
            <a:r>
              <a:rPr lang="ru-RU" sz="1600" b="1" dirty="0">
                <a:solidFill>
                  <a:schemeClr val="tx1"/>
                </a:solidFill>
              </a:rPr>
              <a:t>Обрезка нормы градиента: </a:t>
            </a:r>
            <a:pPr indent="0" marL="0">
              <a:spcAft>
                <a:spcPts val="900"/>
              </a:spcAft>
              <a:buNone/>
            </a:pPr>
            <a:r>
              <a:rPr lang="ru-RU" sz="1600" dirty="0">
                <a:solidFill>
                  <a:schemeClr val="tx1"/>
                </a:solidFill>
              </a:rPr>
              <a:t>до 1</a:t>
            </a:r>
            <a:endParaRPr lang="ru-RU" sz="1600" dirty="0"/>
          </a:p>
          <a:p>
            <a:pPr marL="342900" indent="-342900">
              <a:buSzPct val="100000"/>
              <a:buChar char="•"/>
            </a:pPr>
            <a:r>
              <a:rPr lang="ru-RU" sz="1600" b="1" dirty="0">
                <a:solidFill>
                  <a:schemeClr val="tx1"/>
                </a:solidFill>
              </a:rPr>
              <a:t>База: </a:t>
            </a:r>
            <a:pPr indent="0" marL="0">
              <a:spcAft>
                <a:spcPts val="900"/>
              </a:spcAft>
              <a:buNone/>
            </a:pPr>
            <a:r>
              <a:rPr lang="ru-RU" sz="1600" dirty="0">
                <a:solidFill>
                  <a:schemeClr val="tx1"/>
                </a:solidFill>
              </a:rPr>
              <a:t>BiLSTM, h = 128, Adam lr = 1e-3, dropout 0,3</a:t>
            </a:r>
            <a:endParaRPr lang="ru-RU" sz="1600" dirty="0"/>
          </a:p>
          <a:p>
            <a:pPr marL="342900" indent="-342900">
              <a:buSzPct val="100000"/>
              <a:buChar char="•"/>
            </a:pPr>
            <a:r>
              <a:rPr lang="ru-RU" sz="1600" b="1" dirty="0">
                <a:solidFill>
                  <a:schemeClr val="tx1"/>
                </a:solidFill>
              </a:rPr>
              <a:t>Метрика: </a:t>
            </a:r>
            <a:pPr indent="0" marL="0">
              <a:spcAft>
                <a:spcPts val="900"/>
              </a:spcAft>
              <a:buNone/>
            </a:pPr>
            <a:r>
              <a:rPr lang="ru-RU" sz="1600" dirty="0">
                <a:solidFill>
                  <a:schemeClr val="tx1"/>
                </a:solidFill>
              </a:rPr>
              <a:t>macro-F1 на валидации; тест — один раз в конце</a:t>
            </a:r>
            <a:endParaRPr lang="ru-RU" sz="1600" dirty="0"/>
          </a:p>
          <a:p>
            <a:pPr marL="342900" indent="-342900">
              <a:buSzPct val="100000"/>
              <a:buChar char="•"/>
            </a:pPr>
            <a:r>
              <a:rPr lang="ru-RU" sz="1600" b="1" dirty="0">
                <a:solidFill>
                  <a:schemeClr val="tx1"/>
                </a:solidFill>
              </a:rPr>
              <a:t>Разброс: </a:t>
            </a:r>
            <a:pPr indent="0" marL="0">
              <a:spcAft>
                <a:spcPts val="900"/>
              </a:spcAft>
              <a:buNone/>
            </a:pPr>
            <a:r>
              <a:rPr lang="ru-RU" sz="1600" dirty="0">
                <a:solidFill>
                  <a:schemeClr val="tx1"/>
                </a:solidFill>
              </a:rPr>
              <a:t>итоговая конфигурация обучена с тремя seed (42, 43, 44)</a:t>
            </a:r>
            <a:endParaRPr lang="ru-RU" sz="1600" dirty="0"/>
          </a:p>
        </p:txBody>
      </p:sp>
      <p:sp>
        <p:nvSpPr>
          <p:cNvPr id="4" name="stageA_chip"/>
          <p:cNvSpPr/>
          <p:nvPr/>
        </p:nvSpPr>
        <p:spPr>
          <a:xfrm>
            <a:off x="6766560" y="1371600"/>
            <a:ext cx="77724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tageA_key"/>
          <p:cNvSpPr txBox="1"/>
          <p:nvPr/>
        </p:nvSpPr>
        <p:spPr>
          <a:xfrm>
            <a:off x="6766560" y="137160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chemeClr val="bg1"/>
                </a:solidFill>
              </a:rPr>
              <a:t>A</a:t>
            </a:r>
            <a:endParaRPr lang="ru-RU" sz="1600" dirty="0"/>
          </a:p>
        </p:txBody>
      </p:sp>
      <p:sp>
        <p:nvSpPr>
          <p:cNvPr id="6" name="stageA_text"/>
          <p:cNvSpPr txBox="1"/>
          <p:nvPr/>
        </p:nvSpPr>
        <p:spPr>
          <a:xfrm>
            <a:off x="7726680" y="137160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500" dirty="0">
                <a:solidFill>
                  <a:schemeClr val="tx1"/>
                </a:solidFill>
              </a:rPr>
              <a:t>тип ячейки, направленность</a:t>
            </a:r>
            <a:endParaRPr lang="ru-RU" sz="1500" dirty="0"/>
          </a:p>
        </p:txBody>
      </p:sp>
      <p:sp>
        <p:nvSpPr>
          <p:cNvPr id="7" name="stageA2_chip"/>
          <p:cNvSpPr/>
          <p:nvPr/>
        </p:nvSpPr>
        <p:spPr>
          <a:xfrm>
            <a:off x="6766560" y="1975104"/>
            <a:ext cx="77724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stageA2_key"/>
          <p:cNvSpPr txBox="1"/>
          <p:nvPr/>
        </p:nvSpPr>
        <p:spPr>
          <a:xfrm>
            <a:off x="6766560" y="1975104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chemeClr val="bg1"/>
                </a:solidFill>
              </a:rPr>
              <a:t>A2</a:t>
            </a:r>
            <a:endParaRPr lang="ru-RU" sz="1600" dirty="0"/>
          </a:p>
        </p:txBody>
      </p:sp>
      <p:sp>
        <p:nvSpPr>
          <p:cNvPr id="9" name="stageA2_text"/>
          <p:cNvSpPr txBox="1"/>
          <p:nvPr/>
        </p:nvSpPr>
        <p:spPr>
          <a:xfrm>
            <a:off x="7726680" y="1975104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500" dirty="0">
                <a:solidFill>
                  <a:schemeClr val="tx1"/>
                </a:solidFill>
              </a:rPr>
              <a:t>обрезка до 50 токенов</a:t>
            </a:r>
            <a:endParaRPr lang="ru-RU" sz="1500" dirty="0"/>
          </a:p>
        </p:txBody>
      </p:sp>
      <p:sp>
        <p:nvSpPr>
          <p:cNvPr id="10" name="stageB_chip"/>
          <p:cNvSpPr/>
          <p:nvPr/>
        </p:nvSpPr>
        <p:spPr>
          <a:xfrm>
            <a:off x="6766560" y="2578608"/>
            <a:ext cx="77724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tageB_key"/>
          <p:cNvSpPr txBox="1"/>
          <p:nvPr/>
        </p:nvSpPr>
        <p:spPr>
          <a:xfrm>
            <a:off x="6766560" y="257860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chemeClr val="bg1"/>
                </a:solidFill>
              </a:rPr>
              <a:t>B</a:t>
            </a:r>
            <a:endParaRPr lang="ru-RU" sz="1600" dirty="0"/>
          </a:p>
        </p:txBody>
      </p:sp>
      <p:sp>
        <p:nvSpPr>
          <p:cNvPr id="12" name="stageB_text"/>
          <p:cNvSpPr txBox="1"/>
          <p:nvPr/>
        </p:nvSpPr>
        <p:spPr>
          <a:xfrm>
            <a:off x="7726680" y="257860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500" dirty="0">
                <a:solidFill>
                  <a:schemeClr val="tx1"/>
                </a:solidFill>
              </a:rPr>
              <a:t>размер и число слоёв</a:t>
            </a:r>
            <a:endParaRPr lang="ru-RU" sz="1500" dirty="0"/>
          </a:p>
        </p:txBody>
      </p:sp>
      <p:sp>
        <p:nvSpPr>
          <p:cNvPr id="13" name="stageC_chip"/>
          <p:cNvSpPr/>
          <p:nvPr/>
        </p:nvSpPr>
        <p:spPr>
          <a:xfrm>
            <a:off x="6766560" y="3182112"/>
            <a:ext cx="77724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tageC_key"/>
          <p:cNvSpPr txBox="1"/>
          <p:nvPr/>
        </p:nvSpPr>
        <p:spPr>
          <a:xfrm>
            <a:off x="6766560" y="318211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chemeClr val="bg1"/>
                </a:solidFill>
              </a:rPr>
              <a:t>C</a:t>
            </a:r>
            <a:endParaRPr lang="ru-RU" sz="1600" dirty="0"/>
          </a:p>
        </p:txBody>
      </p:sp>
      <p:sp>
        <p:nvSpPr>
          <p:cNvPr id="15" name="stageC_text"/>
          <p:cNvSpPr txBox="1"/>
          <p:nvPr/>
        </p:nvSpPr>
        <p:spPr>
          <a:xfrm>
            <a:off x="7726680" y="318211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500" dirty="0">
                <a:solidFill>
                  <a:schemeClr val="tx1"/>
                </a:solidFill>
              </a:rPr>
              <a:t>оптимизаторы</a:t>
            </a:r>
            <a:endParaRPr lang="ru-RU" sz="1500" dirty="0"/>
          </a:p>
        </p:txBody>
      </p:sp>
      <p:sp>
        <p:nvSpPr>
          <p:cNvPr id="16" name="stageD_chip"/>
          <p:cNvSpPr/>
          <p:nvPr/>
        </p:nvSpPr>
        <p:spPr>
          <a:xfrm>
            <a:off x="6766560" y="3785616"/>
            <a:ext cx="77724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tageD_key"/>
          <p:cNvSpPr txBox="1"/>
          <p:nvPr/>
        </p:nvSpPr>
        <p:spPr>
          <a:xfrm>
            <a:off x="6766560" y="3785616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chemeClr val="bg1"/>
                </a:solidFill>
              </a:rPr>
              <a:t>D</a:t>
            </a:r>
            <a:endParaRPr lang="ru-RU" sz="1600" dirty="0"/>
          </a:p>
        </p:txBody>
      </p:sp>
      <p:sp>
        <p:nvSpPr>
          <p:cNvPr id="18" name="stageD_text"/>
          <p:cNvSpPr txBox="1"/>
          <p:nvPr/>
        </p:nvSpPr>
        <p:spPr>
          <a:xfrm>
            <a:off x="7726680" y="378561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500" dirty="0">
                <a:solidFill>
                  <a:schemeClr val="tx1"/>
                </a:solidFill>
              </a:rPr>
              <a:t>регуляризация</a:t>
            </a:r>
            <a:endParaRPr lang="ru-RU" sz="1500" dirty="0"/>
          </a:p>
        </p:txBody>
      </p:sp>
      <p:sp>
        <p:nvSpPr>
          <p:cNvPr id="19" name="stageG_chip"/>
          <p:cNvSpPr/>
          <p:nvPr/>
        </p:nvSpPr>
        <p:spPr>
          <a:xfrm>
            <a:off x="6766560" y="4389120"/>
            <a:ext cx="77724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stageG_key"/>
          <p:cNvSpPr txBox="1"/>
          <p:nvPr/>
        </p:nvSpPr>
        <p:spPr>
          <a:xfrm>
            <a:off x="6766560" y="438912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chemeClr val="bg1"/>
                </a:solidFill>
              </a:rPr>
              <a:t>G</a:t>
            </a:r>
            <a:endParaRPr lang="ru-RU" sz="1600" dirty="0"/>
          </a:p>
        </p:txBody>
      </p:sp>
      <p:sp>
        <p:nvSpPr>
          <p:cNvPr id="21" name="stageG_text"/>
          <p:cNvSpPr txBox="1"/>
          <p:nvPr/>
        </p:nvSpPr>
        <p:spPr>
          <a:xfrm>
            <a:off x="7726680" y="438912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500" dirty="0">
                <a:solidFill>
                  <a:schemeClr val="tx1"/>
                </a:solidFill>
              </a:rPr>
              <a:t>объединение лучших решений</a:t>
            </a:r>
            <a:endParaRPr lang="ru-RU" sz="1500" dirty="0"/>
          </a:p>
        </p:txBody>
      </p:sp>
      <p:sp>
        <p:nvSpPr>
          <p:cNvPr id="22" name="stageE_chip"/>
          <p:cNvSpPr/>
          <p:nvPr/>
        </p:nvSpPr>
        <p:spPr>
          <a:xfrm>
            <a:off x="6766560" y="4992624"/>
            <a:ext cx="777240" cy="475488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stageE_key"/>
          <p:cNvSpPr txBox="1"/>
          <p:nvPr/>
        </p:nvSpPr>
        <p:spPr>
          <a:xfrm>
            <a:off x="6766560" y="4992624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chemeClr val="bg1"/>
                </a:solidFill>
              </a:rPr>
              <a:t>E</a:t>
            </a:r>
            <a:endParaRPr lang="ru-RU" sz="1600" dirty="0"/>
          </a:p>
        </p:txBody>
      </p:sp>
      <p:sp>
        <p:nvSpPr>
          <p:cNvPr id="24" name="stageE_text"/>
          <p:cNvSpPr txBox="1"/>
          <p:nvPr/>
        </p:nvSpPr>
        <p:spPr>
          <a:xfrm>
            <a:off x="7726680" y="4992624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500" dirty="0">
                <a:solidFill>
                  <a:schemeClr val="tx1"/>
                </a:solidFill>
              </a:rPr>
              <a:t>предобученные эмбеддинги</a:t>
            </a:r>
            <a:endParaRPr lang="ru-RU" sz="1500" dirty="0"/>
          </a:p>
        </p:txBody>
      </p:sp>
      <p:sp>
        <p:nvSpPr>
          <p:cNvPr id="25" name="stageF_chip"/>
          <p:cNvSpPr/>
          <p:nvPr/>
        </p:nvSpPr>
        <p:spPr>
          <a:xfrm>
            <a:off x="6766560" y="5596128"/>
            <a:ext cx="77724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stageF_key"/>
          <p:cNvSpPr txBox="1"/>
          <p:nvPr/>
        </p:nvSpPr>
        <p:spPr>
          <a:xfrm>
            <a:off x="6766560" y="559612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chemeClr val="bg1"/>
                </a:solidFill>
              </a:rPr>
              <a:t>F</a:t>
            </a:r>
            <a:endParaRPr lang="ru-RU" sz="1600" dirty="0"/>
          </a:p>
        </p:txBody>
      </p:sp>
      <p:sp>
        <p:nvSpPr>
          <p:cNvPr id="27" name="stageF_text"/>
          <p:cNvSpPr txBox="1"/>
          <p:nvPr/>
        </p:nvSpPr>
        <p:spPr>
          <a:xfrm>
            <a:off x="7726680" y="559612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500" dirty="0">
                <a:solidFill>
                  <a:schemeClr val="tx1"/>
                </a:solidFill>
              </a:rPr>
              <a:t>rubert-tiny2 целиком (ориентир)</a:t>
            </a:r>
            <a:endParaRPr lang="ru-RU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ru-RU"/>
              <a:t>8</a:t>
            </a:fld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ru-RU" sz="3000" b="1" dirty="0">
                <a:solidFill>
                  <a:schemeClr val="tx2"/>
                </a:solidFill>
              </a:rPr>
              <a:t>Этапы A–G: что влияет на качество</a:t>
            </a:r>
            <a:endParaRPr lang="ru-RU" sz="3000" dirty="0"/>
          </a:p>
        </p:txBody>
      </p:sp>
      <p:graphicFrame>
        <p:nvGraphicFramePr>
          <p:cNvPr id="3" name="stages_chart" descr=""/>
          <p:cNvGraphicFramePr/>
          <p:nvPr/>
        </p:nvGraphicFramePr>
        <p:xfrm>
          <a:off x="548640" y="1280160"/>
          <a:ext cx="694944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ges_text"/>
          <p:cNvSpPr txBox="1"/>
          <p:nvPr/>
        </p:nvSpPr>
        <p:spPr>
          <a:xfrm>
            <a:off x="7772400" y="1371600"/>
            <a:ext cx="3840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ru-RU" sz="1500" b="1" dirty="0">
                <a:solidFill>
                  <a:schemeClr val="tx1"/>
                </a:solidFill>
              </a:rPr>
              <a:t>Вентили: </a:t>
            </a:r>
            <a:pPr indent="0" marL="0">
              <a:spcAft>
                <a:spcPts val="800"/>
              </a:spcAft>
              <a:buNone/>
            </a:pPr>
            <a:r>
              <a:rPr lang="ru-RU" sz="1500" dirty="0">
                <a:solidFill>
                  <a:schemeClr val="tx1"/>
                </a:solidFill>
              </a:rPr>
              <a:t>+8 п. п. к простой RNN</a:t>
            </a:r>
            <a:endParaRPr lang="ru-RU" sz="1500" dirty="0"/>
          </a:p>
          <a:p>
            <a:pPr marL="342900" indent="-342900">
              <a:buSzPct val="100000"/>
              <a:buChar char="•"/>
            </a:pPr>
            <a:r>
              <a:rPr lang="ru-RU" sz="1500" b="1" dirty="0">
                <a:solidFill>
                  <a:schemeClr val="tx1"/>
                </a:solidFill>
              </a:rPr>
              <a:t>Длина 256 вместо 50: </a:t>
            </a:r>
            <a:pPr indent="0" marL="0">
              <a:spcAft>
                <a:spcPts val="800"/>
              </a:spcAft>
              <a:buNone/>
            </a:pPr>
            <a:r>
              <a:rPr lang="ru-RU" sz="1500" dirty="0">
                <a:solidFill>
                  <a:schemeClr val="tx1"/>
                </a:solidFill>
              </a:rPr>
              <a:t>+3,7 п. п.</a:t>
            </a:r>
            <a:endParaRPr lang="ru-RU" sz="1500" dirty="0"/>
          </a:p>
          <a:p>
            <a:pPr marL="342900" indent="-342900">
              <a:buSzPct val="100000"/>
              <a:buChar char="•"/>
            </a:pPr>
            <a:r>
              <a:rPr lang="ru-RU" sz="1500" b="1" dirty="0">
                <a:solidFill>
                  <a:schemeClr val="tx1"/>
                </a:solidFill>
              </a:rPr>
              <a:t>Оптимизатор и lr: </a:t>
            </a:r>
            <a:pPr indent="0" marL="0">
              <a:spcAft>
                <a:spcPts val="800"/>
              </a:spcAft>
              <a:buNone/>
            </a:pPr>
            <a:r>
              <a:rPr lang="ru-RU" sz="1500" dirty="0">
                <a:solidFill>
                  <a:schemeClr val="tx1"/>
                </a:solidFill>
              </a:rPr>
              <a:t>до 5 п. п.; Adam 3e-3 — лучший</a:t>
            </a:r>
            <a:endParaRPr lang="ru-RU" sz="1500" dirty="0"/>
          </a:p>
          <a:p>
            <a:pPr marL="342900" indent="-342900">
              <a:buSzPct val="100000"/>
              <a:buChar char="•"/>
            </a:pPr>
            <a:r>
              <a:rPr lang="ru-RU" sz="1500" b="1" dirty="0">
                <a:solidFill>
                  <a:schemeClr val="tx1"/>
                </a:solidFill>
              </a:rPr>
              <a:t>Dropout: </a:t>
            </a:r>
            <a:pPr indent="0" marL="0">
              <a:spcAft>
                <a:spcPts val="800"/>
              </a:spcAft>
              <a:buNone/>
            </a:pPr>
            <a:r>
              <a:rPr lang="ru-RU" sz="1500" dirty="0">
                <a:solidFill>
                  <a:schemeClr val="tx1"/>
                </a:solidFill>
              </a:rPr>
              <a:t>+1,5 п. п., меньше переобучение</a:t>
            </a:r>
            <a:endParaRPr lang="ru-RU" sz="1500" dirty="0"/>
          </a:p>
          <a:p>
            <a:pPr marL="342900" indent="-342900">
              <a:buSzPct val="100000"/>
              <a:buChar char="•"/>
            </a:pPr>
            <a:r>
              <a:rPr lang="ru-RU" sz="1500" b="1" dirty="0">
                <a:solidFill>
                  <a:schemeClr val="tx1"/>
                </a:solidFill>
              </a:rPr>
              <a:t>Объединение B + C + D: </a:t>
            </a:r>
            <a:pPr indent="0" marL="0">
              <a:spcAft>
                <a:spcPts val="800"/>
              </a:spcAft>
              <a:buNone/>
            </a:pPr>
            <a:r>
              <a:rPr lang="ru-RU" sz="1500" dirty="0">
                <a:solidFill>
                  <a:schemeClr val="tx1"/>
                </a:solidFill>
              </a:rPr>
              <a:t>0,753, +2,3 п. п. к базе</a:t>
            </a:r>
            <a:endParaRPr lang="ru-RU" sz="1500" dirty="0"/>
          </a:p>
          <a:p>
            <a:pPr marL="342900" indent="-342900">
              <a:buSzPct val="100000"/>
              <a:buChar char="•"/>
            </a:pPr>
            <a:r>
              <a:rPr lang="ru-RU" sz="1500" b="1" dirty="0">
                <a:solidFill>
                  <a:schemeClr val="tx1"/>
                </a:solidFill>
              </a:rPr>
              <a:t>На уровне шума (± 0,004): </a:t>
            </a:r>
            <a:pPr indent="0" marL="0">
              <a:spcAft>
                <a:spcPts val="800"/>
              </a:spcAft>
              <a:buNone/>
            </a:pPr>
            <a:r>
              <a:rPr lang="ru-RU" sz="1500" dirty="0">
                <a:solidFill>
                  <a:schemeClr val="tx1"/>
                </a:solidFill>
              </a:rPr>
              <a:t>двунаправленность, h &gt; 128, dropout 0,3 / 0,5, обрезка градиента</a:t>
            </a:r>
            <a:endParaRPr lang="ru-RU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ru-RU"/>
              <a:t>9</a:t>
            </a:fld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ru-RU" sz="3000" b="1" dirty="0">
                <a:solidFill>
                  <a:schemeClr val="tx2"/>
                </a:solidFill>
              </a:rPr>
              <a:t>Перенос обучения: готовая сеть rubert-tiny2</a:t>
            </a:r>
            <a:endParaRPr lang="ru-RU" sz="3000" dirty="0"/>
          </a:p>
        </p:txBody>
      </p:sp>
      <p:graphicFrame>
        <p:nvGraphicFramePr>
          <p:cNvPr id="3" name="transfer_chart" descr=""/>
          <p:cNvGraphicFramePr/>
          <p:nvPr/>
        </p:nvGraphicFramePr>
        <p:xfrm>
          <a:off x="548640" y="128016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bert_card"/>
          <p:cNvSpPr/>
          <p:nvPr/>
        </p:nvSpPr>
        <p:spPr>
          <a:xfrm>
            <a:off x="7772400" y="1371600"/>
            <a:ext cx="384048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ert_text"/>
          <p:cNvSpPr txBox="1"/>
          <p:nvPr/>
        </p:nvSpPr>
        <p:spPr>
          <a:xfrm>
            <a:off x="7955280" y="1481328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b="1" dirty="0">
                <a:solidFill>
                  <a:schemeClr val="tx2"/>
                </a:solidFill>
              </a:rPr>
              <a:t>cointegrated/rubert-tiny2</a:t>
            </a:r>
            <a:endParaRPr lang="ru-RU" sz="1300" dirty="0"/>
          </a:p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компактный русскоязычный BERT: 29,2 млн параметров, эмбеддинги 312, словарь 83 828 подслов. Берём токенизатор и матрицу эмбеддингов; для ориентира дообучаем целиком (3 эпохи, 128 подслов, lr 2e-5)</a:t>
            </a:r>
            <a:endParaRPr lang="ru-RU" sz="1300" dirty="0"/>
          </a:p>
        </p:txBody>
      </p:sp>
      <p:sp>
        <p:nvSpPr>
          <p:cNvPr id="6" name="transfer_text"/>
          <p:cNvSpPr txBox="1"/>
          <p:nvPr/>
        </p:nvSpPr>
        <p:spPr>
          <a:xfrm>
            <a:off x="7772400" y="320040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ru-RU" sz="1400" dirty="0">
                <a:solidFill>
                  <a:schemeClr val="tx1"/>
                </a:solidFill>
              </a:rPr>
              <a:t>Сам токенизатор не помогает (0,720): выигрыш даёт только предобучение</a:t>
            </a:r>
            <a:endParaRPr lang="ru-RU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ru-RU" sz="1400" dirty="0">
                <a:solidFill>
                  <a:schemeClr val="tx1"/>
                </a:solidFill>
              </a:rPr>
              <a:t>Замороженные эмбеддинги: +3,1 п. п., 0,45 млн обучаемых параметров, 24 с на эпоху</a:t>
            </a:r>
            <a:endParaRPr lang="ru-RU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ru-RU" sz="1400" dirty="0">
                <a:solidFill>
                  <a:schemeClr val="tx1"/>
                </a:solidFill>
              </a:rPr>
              <a:t>rubert-tiny2 целиком отстаёт: у 43 % текстов отрезан конец (128 подслов)</a:t>
            </a:r>
            <a:endParaRPr lang="ru-RU" sz="1400" dirty="0"/>
          </a:p>
        </p:txBody>
      </p:sp>
      <p:sp>
        <p:nvSpPr>
          <p:cNvPr id="7" name="transfer_note"/>
          <p:cNvSpPr txBox="1"/>
          <p:nvPr/>
        </p:nvSpPr>
        <p:spPr>
          <a:xfrm>
            <a:off x="548640" y="58521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ru-RU" sz="1200" i="1" dirty="0">
                <a:solidFill>
                  <a:schemeClr val="accent4"/>
                </a:solidFill>
              </a:rPr>
              <a:t>Серый — лучшая базовая модель (классический ориентир).</a:t>
            </a:r>
            <a:endParaRPr lang="ru-RU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ru-RU"/>
              <a:t>10</a:t>
            </a:fld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ru-RU" sz="3000" b="1" dirty="0">
                <a:solidFill>
                  <a:schemeClr val="tx2"/>
                </a:solidFill>
              </a:rPr>
              <a:t>Итоговая модель и гиперпараметры</a:t>
            </a:r>
            <a:endParaRPr lang="ru-RU" sz="3000" dirty="0"/>
          </a:p>
        </p:txBody>
      </p:sp>
      <p:graphicFrame>
        <p:nvGraphicFramePr>
          <p:cNvPr id="12" name="hp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7665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4805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500" b="1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Токенизация</a:t>
                      </a:r>
                      <a:endParaRPr lang="ru-RU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5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подслова rubert-tiny2, до 320 токенов</a:t>
                      </a:r>
                      <a:endParaRPr lang="ru-RU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500" b="1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Эмбеддинги</a:t>
                      </a:r>
                      <a:endParaRPr lang="ru-RU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5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312, предобученные, дообучаются</a:t>
                      </a:r>
                      <a:endParaRPr lang="ru-RU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500" b="1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Рекуррентный слой</a:t>
                      </a:r>
                      <a:endParaRPr lang="ru-RU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5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BiLSTM, 1 слой, h = 128</a:t>
                      </a:r>
                      <a:endParaRPr lang="ru-RU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500" b="1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</a:t>
                      </a:r>
                      <a:endParaRPr lang="ru-RU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5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</a:t>
                      </a:r>
                      <a:endParaRPr lang="ru-RU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500" b="1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Оптимизатор</a:t>
                      </a:r>
                      <a:endParaRPr lang="ru-RU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5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Adam, lr = 1e-3, обрезка градиента 1</a:t>
                      </a:r>
                      <a:endParaRPr lang="ru-RU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500" b="1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Обучение</a:t>
                      </a:r>
                      <a:endParaRPr lang="ru-RU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5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батч 128, до 8 эпох, ранняя остановка</a:t>
                      </a:r>
                      <a:endParaRPr lang="ru-RU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500" b="1" dirty="0">
                          <a:solidFill>
                            <a:srgbClr val="1732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Выбрана эпоха</a:t>
                      </a:r>
                      <a:endParaRPr lang="ru-RU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ru-RU" sz="15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3-я (seed 42)</a:t>
                      </a:r>
                      <a:endParaRPr lang="ru-RU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eeds_card"/>
          <p:cNvSpPr/>
          <p:nvPr/>
        </p:nvSpPr>
        <p:spPr>
          <a:xfrm>
            <a:off x="7772400" y="1371600"/>
            <a:ext cx="384048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eeds_value"/>
          <p:cNvSpPr txBox="1"/>
          <p:nvPr/>
        </p:nvSpPr>
        <p:spPr>
          <a:xfrm>
            <a:off x="7936992" y="1463040"/>
            <a:ext cx="3511296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ru-RU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0,769 ± 0,004</a:t>
            </a:r>
            <a:endParaRPr lang="ru-RU" sz="2600" dirty="0"/>
          </a:p>
        </p:txBody>
      </p:sp>
      <p:sp>
        <p:nvSpPr>
          <p:cNvPr id="6" name="seeds_label"/>
          <p:cNvSpPr txBox="1"/>
          <p:nvPr/>
        </p:nvSpPr>
        <p:spPr>
          <a:xfrm>
            <a:off x="7936992" y="2249424"/>
            <a:ext cx="3511296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val macro-F1 по трём seed (0,766 / 0,773 / 0,767)</a:t>
            </a:r>
            <a:endParaRPr lang="ru-RU" sz="1300" dirty="0"/>
          </a:p>
        </p:txBody>
      </p:sp>
      <p:sp>
        <p:nvSpPr>
          <p:cNvPr id="7" name="n_cfg_card"/>
          <p:cNvSpPr/>
          <p:nvPr/>
        </p:nvSpPr>
        <p:spPr>
          <a:xfrm>
            <a:off x="7772400" y="3063240"/>
            <a:ext cx="384048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_cfg_value"/>
          <p:cNvSpPr txBox="1"/>
          <p:nvPr/>
        </p:nvSpPr>
        <p:spPr>
          <a:xfrm>
            <a:off x="7936992" y="3154680"/>
            <a:ext cx="3511296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ru-RU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ru-RU" sz="2800" dirty="0"/>
          </a:p>
        </p:txBody>
      </p:sp>
      <p:sp>
        <p:nvSpPr>
          <p:cNvPr id="9" name="n_cfg_label"/>
          <p:cNvSpPr txBox="1"/>
          <p:nvPr/>
        </p:nvSpPr>
        <p:spPr>
          <a:xfrm>
            <a:off x="7936992" y="3941064"/>
            <a:ext cx="3511296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конфигурации сравнены по валидации</a:t>
            </a:r>
            <a:endParaRPr lang="ru-RU" sz="1300" dirty="0"/>
          </a:p>
        </p:txBody>
      </p:sp>
      <p:sp>
        <p:nvSpPr>
          <p:cNvPr id="10" name="epoch_t_card"/>
          <p:cNvSpPr/>
          <p:nvPr/>
        </p:nvSpPr>
        <p:spPr>
          <a:xfrm>
            <a:off x="7772400" y="4754880"/>
            <a:ext cx="384048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epoch_t_value"/>
          <p:cNvSpPr txBox="1"/>
          <p:nvPr/>
        </p:nvSpPr>
        <p:spPr>
          <a:xfrm>
            <a:off x="7936992" y="4846320"/>
            <a:ext cx="3511296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ru-RU" sz="2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 с</a:t>
            </a:r>
            <a:endParaRPr lang="ru-RU" sz="2800" dirty="0"/>
          </a:p>
        </p:txBody>
      </p:sp>
      <p:sp>
        <p:nvSpPr>
          <p:cNvPr id="12" name="epoch_t_label"/>
          <p:cNvSpPr txBox="1"/>
          <p:nvPr/>
        </p:nvSpPr>
        <p:spPr>
          <a:xfrm>
            <a:off x="7936992" y="5632704"/>
            <a:ext cx="3511296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на эпоху на MPS; замороженный вариант — 24 с</a:t>
            </a:r>
            <a:endParaRPr lang="ru-RU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ru-RU"/>
              <a:t>11</a:t>
            </a:fld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ru-RU" sz="3000" b="1" dirty="0">
                <a:solidFill>
                  <a:schemeClr val="tx2"/>
                </a:solidFill>
              </a:rPr>
              <a:t>Результаты на тесте (4 723 текста)</a:t>
            </a:r>
            <a:endParaRPr lang="ru-RU" sz="3000" dirty="0"/>
          </a:p>
        </p:txBody>
      </p:sp>
      <p:graphicFrame>
        <p:nvGraphicFramePr>
          <p:cNvPr id="3" name="test_chart" descr=""/>
          <p:cNvGraphicFramePr/>
          <p:nvPr/>
        </p:nvGraphicFramePr>
        <p:xfrm>
          <a:off x="548640" y="1280160"/>
          <a:ext cx="69494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st_f1_card"/>
          <p:cNvSpPr/>
          <p:nvPr/>
        </p:nvSpPr>
        <p:spPr>
          <a:xfrm>
            <a:off x="7772400" y="1371600"/>
            <a:ext cx="384048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st_f1_value"/>
          <p:cNvSpPr txBox="1"/>
          <p:nvPr/>
        </p:nvSpPr>
        <p:spPr>
          <a:xfrm>
            <a:off x="7936992" y="1463040"/>
            <a:ext cx="3511296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ru-RU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0,751 ± 0,006</a:t>
            </a:r>
            <a:endParaRPr lang="ru-RU" sz="2600" dirty="0"/>
          </a:p>
        </p:txBody>
      </p:sp>
      <p:sp>
        <p:nvSpPr>
          <p:cNvPr id="6" name="test_f1_label"/>
          <p:cNvSpPr txBox="1"/>
          <p:nvPr/>
        </p:nvSpPr>
        <p:spPr>
          <a:xfrm>
            <a:off x="7936992" y="2249424"/>
            <a:ext cx="3511296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macro-F1 итоговой модели; accuracy 0,752 ± 0,005</a:t>
            </a:r>
            <a:endParaRPr lang="ru-RU" sz="1300" dirty="0"/>
          </a:p>
        </p:txBody>
      </p:sp>
      <p:sp>
        <p:nvSpPr>
          <p:cNvPr id="7" name="test_text"/>
          <p:cNvSpPr txBox="1"/>
          <p:nvPr/>
        </p:nvSpPr>
        <p:spPr>
          <a:xfrm>
            <a:off x="7772400" y="306324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ru-RU" sz="1400" dirty="0">
                <a:solidFill>
                  <a:schemeClr val="tx1"/>
                </a:solidFill>
              </a:rPr>
              <a:t>+2,9 п. п. к BiLSTM этапа A, +7 п. п. к обрезке до 50 токенов</a:t>
            </a:r>
            <a:endParaRPr lang="ru-RU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ru-RU" sz="1400" dirty="0">
                <a:solidFill>
                  <a:schemeClr val="tx1"/>
                </a:solidFill>
              </a:rPr>
              <a:t>Лучше дообученной rubert-tiny2 на 1,1–1,7 п. п.</a:t>
            </a:r>
            <a:endParaRPr lang="ru-RU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ru-RU" sz="1400" dirty="0">
                <a:solidFill>
                  <a:schemeClr val="tx1"/>
                </a:solidFill>
              </a:rPr>
              <a:t>Символьный TF-IDF (0,747) не уступает: разница меньше разброса по seed</a:t>
            </a:r>
            <a:endParaRPr lang="ru-RU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ru-RU" sz="1400" dirty="0">
                <a:solidFill>
                  <a:schemeClr val="tx1"/>
                </a:solidFill>
              </a:rPr>
              <a:t>Тест ниже валидации (0,751 против 0,769): выбор лучшей из 23 конфигураций делает оценку по валидации оптимистичной</a:t>
            </a:r>
            <a:endParaRPr lang="ru-RU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ru-RU"/>
              <a:t>12</a:t>
            </a:fld>
            <a:endParaRPr lang="ru-R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ru-RU" sz="3000" b="1" dirty="0">
                <a:solidFill>
                  <a:schemeClr val="tx2"/>
                </a:solidFill>
              </a:rPr>
              <a:t>Где ошибается модель</a:t>
            </a:r>
            <a:endParaRPr lang="ru-RU" sz="3000" dirty="0"/>
          </a:p>
        </p:txBody>
      </p:sp>
      <p:pic>
        <p:nvPicPr>
          <p:cNvPr id="3" name="confusion_img" descr="/home/claude/work/nn/project_exec/figures/test_con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040880" cy="2586822"/>
          </a:xfrm>
          <a:prstGeom prst="rect">
            <a:avLst/>
          </a:prstGeom>
        </p:spPr>
      </p:pic>
      <p:pic>
        <p:nvPicPr>
          <p:cNvPr id="4" name="errors_img" descr="/home/claude/work/nn/project_exec/figures/errors_by_length_cl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004142"/>
            <a:ext cx="7040880" cy="2273072"/>
          </a:xfrm>
          <a:prstGeom prst="rect">
            <a:avLst/>
          </a:prstGeom>
        </p:spPr>
      </p:pic>
      <p:sp>
        <p:nvSpPr>
          <p:cNvPr id="5" name="errors_text"/>
          <p:cNvSpPr txBox="1"/>
          <p:nvPr/>
        </p:nvSpPr>
        <p:spPr>
          <a:xfrm>
            <a:off x="7863840" y="1371600"/>
            <a:ext cx="3749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ru-RU" sz="1500" b="1" dirty="0">
                <a:solidFill>
                  <a:schemeClr val="tx1"/>
                </a:solidFill>
              </a:rPr>
              <a:t>Положительный → нейтральный: </a:t>
            </a:r>
            <a:pPr indent="0" marL="0">
              <a:spcAft>
                <a:spcPts val="900"/>
              </a:spcAft>
              <a:buNone/>
            </a:pPr>
            <a:r>
              <a:rPr lang="ru-RU" sz="1500" dirty="0">
                <a:solidFill>
                  <a:schemeClr val="tx1"/>
                </a:solidFill>
              </a:rPr>
              <a:t>24–25 % положительных текстов у всех трёх моделей — свойство данных, а не модели</a:t>
            </a:r>
            <a:endParaRPr lang="ru-RU" sz="1500" dirty="0"/>
          </a:p>
          <a:p>
            <a:pPr marL="342900" indent="-342900">
              <a:buSzPct val="100000"/>
              <a:buChar char="•"/>
            </a:pPr>
            <a:r>
              <a:rPr lang="ru-RU" sz="1500" b="1" dirty="0">
                <a:solidFill>
                  <a:schemeClr val="tx1"/>
                </a:solidFill>
              </a:rPr>
              <a:t>Длинные тексты: </a:t>
            </a:r>
            <a:pPr indent="0" marL="0">
              <a:spcAft>
                <a:spcPts val="900"/>
              </a:spcAft>
              <a:buNone/>
            </a:pPr>
            <a:r>
              <a:rPr lang="ru-RU" sz="1500" dirty="0">
                <a:solidFill>
                  <a:schemeClr val="tx1"/>
                </a:solidFill>
              </a:rPr>
              <a:t>29–30 % ошибок против 22–24 % у коротких</a:t>
            </a:r>
            <a:endParaRPr lang="ru-RU" sz="1500" dirty="0"/>
          </a:p>
          <a:p>
            <a:pPr marL="342900" indent="-342900">
              <a:buSzPct val="100000"/>
              <a:buChar char="•"/>
            </a:pPr>
            <a:r>
              <a:rPr lang="ru-RU" sz="1500" b="1" dirty="0">
                <a:solidFill>
                  <a:schemeClr val="tx1"/>
                </a:solidFill>
              </a:rPr>
              <a:t>По классам: </a:t>
            </a:r>
            <a:pPr indent="0" marL="0">
              <a:spcAft>
                <a:spcPts val="900"/>
              </a:spcAft>
              <a:buNone/>
            </a:pPr>
            <a:r>
              <a:rPr lang="ru-RU" sz="1500" dirty="0">
                <a:solidFill>
                  <a:schemeClr val="tx1"/>
                </a:solidFill>
              </a:rPr>
              <a:t>POSITIVE — 36 % ошибок, NEGATIVE — 16 %</a:t>
            </a:r>
            <a:endParaRPr lang="ru-RU" sz="1500" dirty="0"/>
          </a:p>
          <a:p>
            <a:pPr marL="342900" indent="-342900">
              <a:buSzPct val="100000"/>
              <a:buChar char="•"/>
            </a:pPr>
            <a:r>
              <a:rPr lang="ru-RU" sz="1500" b="1" dirty="0">
                <a:solidFill>
                  <a:schemeClr val="tx1"/>
                </a:solidFill>
              </a:rPr>
              <a:t>Трудные тексты: </a:t>
            </a:r>
            <a:pPr indent="0" marL="0">
              <a:spcAft>
                <a:spcPts val="900"/>
              </a:spcAft>
              <a:buNone/>
            </a:pPr>
            <a:r>
              <a:rPr lang="ru-RU" sz="1500" dirty="0">
                <a:solidFill>
                  <a:schemeClr val="tx1"/>
                </a:solidFill>
              </a:rPr>
              <a:t>на 14,4 % теста ошибаются все три сильные модели</a:t>
            </a:r>
            <a:endParaRPr lang="ru-RU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ru-RU"/>
              <a:t>13</a:t>
            </a:fld>
            <a:endParaRPr lang="ru-R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ru-RU" sz="3000" b="1" dirty="0">
                <a:solidFill>
                  <a:schemeClr val="tx2"/>
                </a:solidFill>
              </a:rPr>
              <a:t>Проблемные и корректные примеры</a:t>
            </a:r>
            <a:endParaRPr lang="ru-RU" sz="3000" dirty="0"/>
          </a:p>
        </p:txBody>
      </p:sp>
      <p:sp>
        <p:nvSpPr>
          <p:cNvPr id="3" name="bad_head"/>
          <p:cNvSpPr txBox="1"/>
          <p:nvPr/>
        </p:nvSpPr>
        <p:spPr>
          <a:xfrm>
            <a:off x="548640" y="1234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800" b="1" dirty="0">
                <a:solidFill>
                  <a:schemeClr val="accent3"/>
                </a:solidFill>
              </a:rPr>
              <a:t>Проблемные</a:t>
            </a:r>
            <a:endParaRPr lang="ru-RU" sz="1800" dirty="0"/>
          </a:p>
        </p:txBody>
      </p:sp>
      <p:sp>
        <p:nvSpPr>
          <p:cNvPr id="4" name="good_head"/>
          <p:cNvSpPr txBox="1"/>
          <p:nvPr/>
        </p:nvSpPr>
        <p:spPr>
          <a:xfrm>
            <a:off x="6263640" y="123444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800" b="1" dirty="0">
                <a:solidFill>
                  <a:schemeClr val="accent2"/>
                </a:solidFill>
              </a:rPr>
              <a:t>Корректные</a:t>
            </a:r>
            <a:endParaRPr lang="ru-RU" sz="1800" dirty="0"/>
          </a:p>
        </p:txBody>
      </p:sp>
      <p:sp>
        <p:nvSpPr>
          <p:cNvPr id="5" name="bad1_card"/>
          <p:cNvSpPr/>
          <p:nvPr/>
        </p:nvSpPr>
        <p:spPr>
          <a:xfrm>
            <a:off x="548640" y="1737360"/>
            <a:ext cx="548640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1_text"/>
          <p:cNvSpPr txBox="1"/>
          <p:nvPr/>
        </p:nvSpPr>
        <p:spPr>
          <a:xfrm>
            <a:off x="731520" y="182880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300" b="1" dirty="0">
                <a:solidFill>
                  <a:schemeClr val="accent3"/>
                </a:solidFill>
              </a:rPr>
              <a:t>метка POSITIVE → модель NEGATIVE (p = 1,00)</a:t>
            </a:r>
            <a:endParaRPr lang="ru-RU" sz="1300" dirty="0"/>
          </a:p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«Не водите своего ребёнка к педиатру… не лечит, а калечит» — похоже на ошибку разметки</a:t>
            </a:r>
            <a:endParaRPr lang="ru-RU" sz="1300" dirty="0"/>
          </a:p>
        </p:txBody>
      </p:sp>
      <p:sp>
        <p:nvSpPr>
          <p:cNvPr id="7" name="bad2_card"/>
          <p:cNvSpPr/>
          <p:nvPr/>
        </p:nvSpPr>
        <p:spPr>
          <a:xfrm>
            <a:off x="548640" y="3017520"/>
            <a:ext cx="548640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bad2_text"/>
          <p:cNvSpPr txBox="1"/>
          <p:nvPr/>
        </p:nvSpPr>
        <p:spPr>
          <a:xfrm>
            <a:off x="731520" y="310896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300" b="1" dirty="0">
                <a:solidFill>
                  <a:schemeClr val="accent3"/>
                </a:solidFill>
              </a:rPr>
              <a:t>метка NEGATIVE → модель POSITIVE (p = 1,00)</a:t>
            </a:r>
            <a:endParaRPr lang="ru-RU" sz="1300" dirty="0"/>
          </a:p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«ОГРОМНОЕ СПАСИБО за нашего сына…» — тоже ошибка разметки</a:t>
            </a:r>
            <a:endParaRPr lang="ru-RU" sz="1300" dirty="0"/>
          </a:p>
        </p:txBody>
      </p:sp>
      <p:sp>
        <p:nvSpPr>
          <p:cNvPr id="9" name="bad3_card"/>
          <p:cNvSpPr/>
          <p:nvPr/>
        </p:nvSpPr>
        <p:spPr>
          <a:xfrm>
            <a:off x="548640" y="4297680"/>
            <a:ext cx="548640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3_text"/>
          <p:cNvSpPr txBox="1"/>
          <p:nvPr/>
        </p:nvSpPr>
        <p:spPr>
          <a:xfrm>
            <a:off x="731520" y="438912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300" b="1" dirty="0">
                <a:solidFill>
                  <a:schemeClr val="accent3"/>
                </a:solidFill>
              </a:rPr>
              <a:t>метка NEUTRAL → модель NEGATIVE (p = 0,99)</a:t>
            </a:r>
            <a:endParaRPr lang="ru-RU" sz="1300" dirty="0"/>
          </a:p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новость о гибели ребёнка: тон нейтральный, тема негативная — разные правила разметки</a:t>
            </a:r>
            <a:endParaRPr lang="ru-RU" sz="1300" dirty="0"/>
          </a:p>
        </p:txBody>
      </p:sp>
      <p:sp>
        <p:nvSpPr>
          <p:cNvPr id="11" name="irony_card"/>
          <p:cNvSpPr/>
          <p:nvPr/>
        </p:nvSpPr>
        <p:spPr>
          <a:xfrm>
            <a:off x="548640" y="5577840"/>
            <a:ext cx="54864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rony_text"/>
          <p:cNvSpPr txBox="1"/>
          <p:nvPr/>
        </p:nvSpPr>
        <p:spPr>
          <a:xfrm>
            <a:off x="731520" y="56692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300" b="1" dirty="0">
                <a:solidFill>
                  <a:schemeClr val="accent5"/>
                </a:solidFill>
              </a:rPr>
              <a:t>Ирония «Ну спасибо за „прекрасный“ сервис…»</a:t>
            </a:r>
            <a:endParaRPr lang="ru-RU" sz="1300" dirty="0"/>
          </a:p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RNN: NEGATIVE (0,60), rubert-tiny2: POSITIVE (0,45)</a:t>
            </a:r>
            <a:endParaRPr lang="ru-RU" sz="1300" dirty="0"/>
          </a:p>
        </p:txBody>
      </p:sp>
      <p:sp>
        <p:nvSpPr>
          <p:cNvPr id="13" name="good1_card"/>
          <p:cNvSpPr/>
          <p:nvPr/>
        </p:nvSpPr>
        <p:spPr>
          <a:xfrm>
            <a:off x="6263640" y="1737360"/>
            <a:ext cx="53492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good1_text"/>
          <p:cNvSpPr txBox="1"/>
          <p:nvPr/>
        </p:nvSpPr>
        <p:spPr>
          <a:xfrm>
            <a:off x="6446520" y="182880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300" b="1" dirty="0">
                <a:solidFill>
                  <a:schemeClr val="accent2"/>
                </a:solidFill>
              </a:rPr>
              <a:t>POSITIVE (p = 1,00)</a:t>
            </a:r>
            <a:endParaRPr lang="ru-RU" sz="1300" dirty="0"/>
          </a:p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благодарность врачу: «Спасибо Вам огромное за помощь в лечении моего ребёнка!»</a:t>
            </a:r>
            <a:endParaRPr lang="ru-RU" sz="1300" dirty="0"/>
          </a:p>
        </p:txBody>
      </p:sp>
      <p:sp>
        <p:nvSpPr>
          <p:cNvPr id="15" name="good2_card"/>
          <p:cNvSpPr/>
          <p:nvPr/>
        </p:nvSpPr>
        <p:spPr>
          <a:xfrm>
            <a:off x="6263640" y="3017520"/>
            <a:ext cx="53492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good2_text"/>
          <p:cNvSpPr txBox="1"/>
          <p:nvPr/>
        </p:nvSpPr>
        <p:spPr>
          <a:xfrm>
            <a:off x="6446520" y="310896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300" b="1" dirty="0">
                <a:solidFill>
                  <a:schemeClr val="accent2"/>
                </a:solidFill>
              </a:rPr>
              <a:t>NEGATIVE (p = 1,00)</a:t>
            </a:r>
            <a:endParaRPr lang="ru-RU" sz="1300" dirty="0"/>
          </a:p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«Плохое отношение к клиентам. Мало того, что не отпускают лекарства по рецептам…»</a:t>
            </a:r>
            <a:endParaRPr lang="ru-RU" sz="1300" dirty="0"/>
          </a:p>
        </p:txBody>
      </p:sp>
      <p:sp>
        <p:nvSpPr>
          <p:cNvPr id="17" name="good3_card"/>
          <p:cNvSpPr/>
          <p:nvPr/>
        </p:nvSpPr>
        <p:spPr>
          <a:xfrm>
            <a:off x="6263640" y="4297680"/>
            <a:ext cx="53492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good3_text"/>
          <p:cNvSpPr txBox="1"/>
          <p:nvPr/>
        </p:nvSpPr>
        <p:spPr>
          <a:xfrm>
            <a:off x="6446520" y="438912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300" b="1" dirty="0">
                <a:solidFill>
                  <a:schemeClr val="accent2"/>
                </a:solidFill>
              </a:rPr>
              <a:t>NEUTRAL (p = 0,96)</a:t>
            </a:r>
            <a:endParaRPr lang="ru-RU" sz="1300" dirty="0"/>
          </a:p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«В целом неплохо, но старая мебель и некачественная уборка подпортили впечатления…»</a:t>
            </a:r>
            <a:endParaRPr lang="ru-RU" sz="1300" dirty="0"/>
          </a:p>
        </p:txBody>
      </p:sp>
      <p:sp>
        <p:nvSpPr>
          <p:cNvPr id="19" name="demo_card"/>
          <p:cNvSpPr/>
          <p:nvPr/>
        </p:nvSpPr>
        <p:spPr>
          <a:xfrm>
            <a:off x="6263640" y="5577840"/>
            <a:ext cx="53492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demo_text"/>
          <p:cNvSpPr txBox="1"/>
          <p:nvPr/>
        </p:nvSpPr>
        <p:spPr>
          <a:xfrm>
            <a:off x="6446520" y="566928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300" b="1" dirty="0">
                <a:solidFill>
                  <a:schemeClr val="accent2"/>
                </a:solidFill>
              </a:rPr>
              <a:t>Свои фразы</a:t>
            </a:r>
            <a:endParaRPr lang="ru-RU" sz="1300" dirty="0"/>
          </a:p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явный позитив, негатив и нейтральное описание — верно, p 0,93–0,99</a:t>
            </a:r>
            <a:endParaRPr lang="ru-RU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ru-RU"/>
              <a:t>14</a:t>
            </a:fld>
            <a:endParaRPr 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ru-RU" sz="3000" b="1" dirty="0">
                <a:solidFill>
                  <a:schemeClr val="tx2"/>
                </a:solidFill>
              </a:rPr>
              <a:t>Скрытые состояния сети (t-SNE)</a:t>
            </a:r>
            <a:endParaRPr lang="ru-RU" sz="3000" dirty="0"/>
          </a:p>
        </p:txBody>
      </p:sp>
      <p:pic>
        <p:nvPicPr>
          <p:cNvPr id="3" name="tsne_img" descr="/home/claude/work/nn/project_exec/figures/tsne_hid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589520" cy="4117946"/>
          </a:xfrm>
          <a:prstGeom prst="rect">
            <a:avLst/>
          </a:prstGeom>
        </p:spPr>
      </p:pic>
      <p:sp>
        <p:nvSpPr>
          <p:cNvPr id="4" name="sil_card"/>
          <p:cNvSpPr/>
          <p:nvPr/>
        </p:nvSpPr>
        <p:spPr>
          <a:xfrm>
            <a:off x="8412480" y="1371600"/>
            <a:ext cx="32004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il_value"/>
          <p:cNvSpPr txBox="1"/>
          <p:nvPr/>
        </p:nvSpPr>
        <p:spPr>
          <a:xfrm>
            <a:off x="8577072" y="1463040"/>
            <a:ext cx="28712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ru-RU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0,110 → 0,172</a:t>
            </a:r>
            <a:endParaRPr lang="ru-RU" sz="2400" dirty="0"/>
          </a:p>
        </p:txBody>
      </p:sp>
      <p:sp>
        <p:nvSpPr>
          <p:cNvPr id="6" name="sil_label"/>
          <p:cNvSpPr txBox="1"/>
          <p:nvPr/>
        </p:nvSpPr>
        <p:spPr>
          <a:xfrm>
            <a:off x="8577072" y="2194560"/>
            <a:ext cx="2871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силуэт: простая RNN → итоговая модель</a:t>
            </a:r>
            <a:endParaRPr lang="ru-RU" sz="1300" dirty="0"/>
          </a:p>
        </p:txBody>
      </p:sp>
      <p:sp>
        <p:nvSpPr>
          <p:cNvPr id="7" name="tsne_text"/>
          <p:cNvSpPr txBox="1"/>
          <p:nvPr/>
        </p:nvSpPr>
        <p:spPr>
          <a:xfrm>
            <a:off x="8412480" y="2971800"/>
            <a:ext cx="3200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ru-RU" sz="1400" dirty="0">
                <a:solidFill>
                  <a:schemeClr val="tx1"/>
                </a:solidFill>
              </a:rPr>
              <a:t>Отрицательный и положительный классы образуют компактные группы</a:t>
            </a:r>
            <a:endParaRPr lang="ru-RU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ru-RU" sz="1400" dirty="0">
                <a:solidFill>
                  <a:schemeClr val="tx1"/>
                </a:solidFill>
              </a:rPr>
              <a:t>Нейтральный в центре смешан с обоими</a:t>
            </a:r>
            <a:endParaRPr lang="ru-RU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ru-RU" sz="1400" dirty="0">
                <a:solidFill>
                  <a:schemeClr val="tx1"/>
                </a:solidFill>
              </a:rPr>
              <a:t>Ошибки — в зонах перемешивания: кандидаты на проверку разметки</a:t>
            </a:r>
            <a:endParaRPr lang="ru-RU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ru-RU"/>
              <a:t>15</a:t>
            </a:fld>
            <a:endParaRPr lang="ru-R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ru-RU" sz="3000" b="1" dirty="0">
                <a:solidFill>
                  <a:schemeClr val="tx2"/>
                </a:solidFill>
              </a:rPr>
              <a:t>Сравнение с опубликованными результатами</a:t>
            </a:r>
            <a:endParaRPr lang="ru-RU" sz="3000" dirty="0"/>
          </a:p>
        </p:txBody>
      </p:sp>
      <p:graphicFrame>
        <p:nvGraphicFramePr>
          <p:cNvPr id="3" name="published_chart" descr=""/>
          <p:cNvGraphicFramePr/>
          <p:nvPr/>
        </p:nvGraphicFramePr>
        <p:xfrm>
          <a:off x="548640" y="128016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published_text"/>
          <p:cNvSpPr txBox="1"/>
          <p:nvPr/>
        </p:nvSpPr>
        <p:spPr>
          <a:xfrm>
            <a:off x="7589520" y="1371600"/>
            <a:ext cx="4023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ru-RU" sz="1400" dirty="0">
                <a:solidFill>
                  <a:schemeClr val="tx1"/>
                </a:solidFill>
              </a:rPr>
              <a:t>Для самого набора опубликованных метрик нет; ближайший ориентир — модель на исходном наборе MonoHime</a:t>
            </a:r>
            <a:endParaRPr lang="ru-RU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ru-RU" sz="1400" dirty="0">
                <a:solidFill>
                  <a:schemeClr val="tx1"/>
                </a:solidFill>
              </a:rPr>
              <a:t>У неё в 4,8 раза больше обучающих текстов (180 853) и другой, несбалансированный тест — сравнение только ориентировочное</a:t>
            </a:r>
            <a:endParaRPr lang="ru-RU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ru-RU" sz="1400" dirty="0">
                <a:solidFill>
                  <a:schemeClr val="tx1"/>
                </a:solidFill>
              </a:rPr>
              <a:t>Распределение по классам то же: лучше всего — NEGATIVE</a:t>
            </a:r>
            <a:endParaRPr lang="ru-RU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ru-RU" sz="1400" dirty="0">
                <a:solidFill>
                  <a:schemeClr val="tx1"/>
                </a:solidFill>
              </a:rPr>
              <a:t>0,99 из практики 10 — следствие утечки; та же BiLSTM без утечки даёт 0,722</a:t>
            </a:r>
            <a:endParaRPr lang="ru-RU" sz="1400" dirty="0"/>
          </a:p>
        </p:txBody>
      </p:sp>
      <p:sp>
        <p:nvSpPr>
          <p:cNvPr id="5" name="published_note"/>
          <p:cNvSpPr txBox="1"/>
          <p:nvPr/>
        </p:nvSpPr>
        <p:spPr>
          <a:xfrm>
            <a:off x="548640" y="557784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ru-RU" sz="1300" i="1" dirty="0">
                <a:solidFill>
                  <a:schemeClr val="accent4"/>
                </a:solidFill>
              </a:rPr>
              <a:t>Опубликованные модели, по-видимому, видели наши тексты при обучении, поэтому для прямого сравнения rubert-tiny2 дообучена заново на наших данных.</a:t>
            </a:r>
            <a:endParaRPr lang="ru-RU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ru-RU"/>
              <a:t>16</a:t>
            </a:fld>
            <a:endParaRPr lang="ru-R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ru-RU" sz="3600" b="1" dirty="0">
                <a:solidFill>
                  <a:schemeClr val="bg1"/>
                </a:solidFill>
              </a:rPr>
              <a:t>Заключение</a:t>
            </a:r>
            <a:endParaRPr lang="ru-RU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ru-RU" sz="1900" dirty="0">
                <a:solidFill>
                  <a:schemeClr val="bg1"/>
                </a:solidFill>
              </a:rPr>
              <a:t>Итоговая модель — BiLSTM на подсловах с дообучаемыми эмбеддингами rubert-tiny2: macro-F1 на тесте 0,751 ± 0,006</a:t>
            </a:r>
            <a:endParaRPr lang="ru-RU" sz="19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ru-RU" sz="1900" dirty="0">
                <a:solidFill>
                  <a:schemeClr val="bg1"/>
                </a:solidFill>
              </a:rPr>
              <a:t>Сильнее всего влияют вентили (+8 п. п.), длина текста (+3,7), предобученные эмбеддинги (+3–4) и скорость обучения (до 5)</a:t>
            </a:r>
            <a:endParaRPr lang="ru-RU" sz="19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ru-RU" sz="1900" dirty="0">
                <a:solidFill>
                  <a:schemeClr val="bg1"/>
                </a:solidFill>
              </a:rPr>
              <a:t>Двунаправленность, размер сети сверх h = 128 и второй слой — в пределах шума</a:t>
            </a:r>
            <a:endParaRPr lang="ru-RU" sz="19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ru-RU" sz="1900" dirty="0">
                <a:solidFill>
                  <a:schemeClr val="bg1"/>
                </a:solidFill>
              </a:rPr>
              <a:t>Сильная классическая модель (символьный TF-IDF, 0,747) не уступает: разметка шумная, граница «позитив — нейтрально» размыта</a:t>
            </a:r>
            <a:endParaRPr lang="ru-RU" sz="19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ru-RU" sz="1900" dirty="0">
                <a:solidFill>
                  <a:schemeClr val="bg1"/>
                </a:solidFill>
              </a:rPr>
              <a:t>Дальше: обучить на всём исходном наборе (в 4–5 раз больше), почистить разметку, объединить RNN и TF-IDF в ансамбль</a:t>
            </a:r>
            <a:endParaRPr lang="ru-RU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timent Ink">
  <a:themeElements>
    <a:clrScheme name="Sentiment Ink">
      <a:dk1>
        <a:srgbClr val="1E2430"/>
      </a:dk1>
      <a:lt1>
        <a:srgbClr val="FFFFFF"/>
      </a:lt1>
      <a:dk2>
        <a:srgbClr val="17324D"/>
      </a:dk2>
      <a:lt2>
        <a:srgbClr val="EEF2F6"/>
      </a:lt2>
      <a:accent1>
        <a:srgbClr val="2A78D6"/>
      </a:accent1>
      <a:accent2>
        <a:srgbClr val="1BAF7A"/>
      </a:accent2>
      <a:accent3>
        <a:srgbClr val="EB6834"/>
      </a:accent3>
      <a:accent4>
        <a:srgbClr val="6B7785"/>
      </a:accent4>
      <a:accent5>
        <a:srgbClr val="EDA100"/>
      </a:accent5>
      <a:accent6>
        <a:srgbClr val="6250D6"/>
      </a:accent6>
      <a:hlink>
        <a:srgbClr val="2A78D6"/>
      </a:hlink>
      <a:folHlink>
        <a:srgbClr val="6250D6"/>
      </a:folHlink>
    </a:clrScheme>
    <a:fontScheme name="Sentiment In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Тональность русскоязычных отзывов: рекуррентные нейросети</dc:title>
  <dc:creator>Подольский Филипп</dc:creator>
  <cp:lastModifiedBy>Подольский Филипп</cp:lastModifiedBy>
  <cp:revision>1</cp:revision>
  <dcterms:created xsi:type="dcterms:W3CDTF">2026-10-11T00:02:19Z</dcterms:created>
  <dcterms:modified xsi:type="dcterms:W3CDTF">2026-10-11T00:02:19Z</dcterms:modified>
</cp:coreProperties>
</file>